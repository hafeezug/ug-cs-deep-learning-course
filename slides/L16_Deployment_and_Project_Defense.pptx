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51151449944137" /><Relationship Type="http://schemas.openxmlformats.org/officeDocument/2006/relationships/extended-properties" Target="/docProps/app.xml" Id="R65d9f65ec9a441ba" /><Relationship Type="http://schemas.openxmlformats.org/officeDocument/2006/relationships/officeDocument" Target="/ppt/presentation.xml" Id="Rc5c41ed33f9e42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4322f332d046a9"/>
  </p:sldMasterIdLst>
  <p:notesMasterIdLst>
    <p:notesMasterId xmlns:r="http://schemas.openxmlformats.org/officeDocument/2006/relationships" r:id="R36b1fe1660a54832"/>
  </p:notesMasterIdLst>
  <p:sldIdLst>
    <p:sldId xmlns:r="http://schemas.openxmlformats.org/officeDocument/2006/relationships" id="256" r:id="Rc15a613eaf4a42ae"/>
    <p:sldId xmlns:r="http://schemas.openxmlformats.org/officeDocument/2006/relationships" id="257" r:id="R6d3b35ab047d4d61"/>
    <p:sldId xmlns:r="http://schemas.openxmlformats.org/officeDocument/2006/relationships" id="258" r:id="R28d49097bb694663"/>
    <p:sldId xmlns:r="http://schemas.openxmlformats.org/officeDocument/2006/relationships" id="259" r:id="R045d1295896946fe"/>
    <p:sldId xmlns:r="http://schemas.openxmlformats.org/officeDocument/2006/relationships" id="260" r:id="R8bea406c36b94042"/>
    <p:sldId xmlns:r="http://schemas.openxmlformats.org/officeDocument/2006/relationships" id="261" r:id="Rcb344066d0b448cb"/>
    <p:sldId xmlns:r="http://schemas.openxmlformats.org/officeDocument/2006/relationships" id="262" r:id="R397dbc0096a14e68"/>
    <p:sldId xmlns:r="http://schemas.openxmlformats.org/officeDocument/2006/relationships" id="263" r:id="R122bc487769f42e7"/>
    <p:sldId xmlns:r="http://schemas.openxmlformats.org/officeDocument/2006/relationships" id="264" r:id="R047071d4d3db4ebb"/>
    <p:sldId xmlns:r="http://schemas.openxmlformats.org/officeDocument/2006/relationships" id="265" r:id="R3a2d6c404ca24408"/>
    <p:sldId xmlns:r="http://schemas.openxmlformats.org/officeDocument/2006/relationships" id="266" r:id="R81e039b92dd94be7"/>
    <p:sldId xmlns:r="http://schemas.openxmlformats.org/officeDocument/2006/relationships" id="267" r:id="Rbf55c929a0ab407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293f2242524feb" /><Relationship Type="http://schemas.openxmlformats.org/officeDocument/2006/relationships/slideMaster" Target="/ppt/slideMasters/slideMaster1.xml" Id="Rf14322f332d046a9" /><Relationship Type="http://schemas.openxmlformats.org/officeDocument/2006/relationships/notesMaster" Target="/ppt/notesMasters/notesMaster1.xml" Id="R36b1fe1660a54832" /><Relationship Type="http://schemas.openxmlformats.org/officeDocument/2006/relationships/presProps" Target="/ppt/presProps.xml" Id="R096d099d68de42ac" /><Relationship Type="http://schemas.openxmlformats.org/officeDocument/2006/relationships/tableStyles" Target="/ppt/tableStyles.xml" Id="R535f4976245c4357" /><Relationship Type="http://schemas.openxmlformats.org/officeDocument/2006/relationships/slide" Target="/ppt/slides/slide1.xml" Id="Rc15a613eaf4a42ae" /><Relationship Type="http://schemas.openxmlformats.org/officeDocument/2006/relationships/slide" Target="/ppt/slides/slide2.xml" Id="R6d3b35ab047d4d61" /><Relationship Type="http://schemas.openxmlformats.org/officeDocument/2006/relationships/slide" Target="/ppt/slides/slide3.xml" Id="R28d49097bb694663" /><Relationship Type="http://schemas.openxmlformats.org/officeDocument/2006/relationships/slide" Target="/ppt/slides/slide4.xml" Id="R045d1295896946fe" /><Relationship Type="http://schemas.openxmlformats.org/officeDocument/2006/relationships/slide" Target="/ppt/slides/slide5.xml" Id="R8bea406c36b94042" /><Relationship Type="http://schemas.openxmlformats.org/officeDocument/2006/relationships/slide" Target="/ppt/slides/slide6.xml" Id="Rcb344066d0b448cb" /><Relationship Type="http://schemas.openxmlformats.org/officeDocument/2006/relationships/slide" Target="/ppt/slides/slide7.xml" Id="R397dbc0096a14e68" /><Relationship Type="http://schemas.openxmlformats.org/officeDocument/2006/relationships/slide" Target="/ppt/slides/slide8.xml" Id="R122bc487769f42e7" /><Relationship Type="http://schemas.openxmlformats.org/officeDocument/2006/relationships/slide" Target="/ppt/slides/slide9.xml" Id="R047071d4d3db4ebb" /><Relationship Type="http://schemas.openxmlformats.org/officeDocument/2006/relationships/slide" Target="/ppt/slides/slide10.xml" Id="R3a2d6c404ca24408" /><Relationship Type="http://schemas.openxmlformats.org/officeDocument/2006/relationships/slide" Target="/ppt/slides/slide11.xml" Id="R81e039b92dd94be7" /><Relationship Type="http://schemas.openxmlformats.org/officeDocument/2006/relationships/slide" Target="/ppt/slides/slide12.xml" Id="Rbf55c929a0ab40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222b9ecdb643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b46479d5a440b6" /><Relationship Type="http://schemas.openxmlformats.org/officeDocument/2006/relationships/notesMaster" Target="/ppt/notesMasters/notesMaster1.xml" Id="Re0bf46ddc65f44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e122887053485b" /><Relationship Type="http://schemas.openxmlformats.org/officeDocument/2006/relationships/notesMaster" Target="/ppt/notesMasters/notesMaster1.xml" Id="R5d6c7d7bc6364d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5980cdef714b21" /><Relationship Type="http://schemas.openxmlformats.org/officeDocument/2006/relationships/notesMaster" Target="/ppt/notesMasters/notesMaster1.xml" Id="Rcf246f4be4a845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7241039cdd4b9e" /><Relationship Type="http://schemas.openxmlformats.org/officeDocument/2006/relationships/notesMaster" Target="/ppt/notesMasters/notesMaster1.xml" Id="R3175d12d48f641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af378a11934da5" /><Relationship Type="http://schemas.openxmlformats.org/officeDocument/2006/relationships/notesMaster" Target="/ppt/notesMasters/notesMaster1.xml" Id="Re7f84d8385a443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8fa8208dec4636" /><Relationship Type="http://schemas.openxmlformats.org/officeDocument/2006/relationships/notesMaster" Target="/ppt/notesMasters/notesMaster1.xml" Id="R0361454b2fc544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92924edbb74c8b" /><Relationship Type="http://schemas.openxmlformats.org/officeDocument/2006/relationships/notesMaster" Target="/ppt/notesMasters/notesMaster1.xml" Id="Rcaf84194a20242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156ef078d44a98" /><Relationship Type="http://schemas.openxmlformats.org/officeDocument/2006/relationships/notesMaster" Target="/ppt/notesMasters/notesMaster1.xml" Id="R2a89de3f447546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d4d2c8eefd428a" /><Relationship Type="http://schemas.openxmlformats.org/officeDocument/2006/relationships/notesMaster" Target="/ppt/notesMasters/notesMaster1.xml" Id="Rb020abf7b77346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3bf501f63b4f6f" /><Relationship Type="http://schemas.openxmlformats.org/officeDocument/2006/relationships/notesMaster" Target="/ppt/notesMasters/notesMaster1.xml" Id="R4f3fb1db295d4e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c5dc5533844c0b" /><Relationship Type="http://schemas.openxmlformats.org/officeDocument/2006/relationships/notesMaster" Target="/ppt/notesMasters/notesMaster1.xml" Id="R05d578246b4c403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a80ce34bfd54161" /><Relationship Type="http://schemas.openxmlformats.org/officeDocument/2006/relationships/notesMaster" Target="/ppt/notesMasters/notesMaster1.xml" Id="R1471be6eccad4b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moves: Open with the course question and ask students where they have already encountered this model family.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Preview the conceptual arc. Ask students to choose which outcome feels least secure and revisit that choice at the exit ticket.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 minutes.</a:t>
            </a:r>
          </a:p>
          <a:p xmlns:a="http://schemas.openxmlformats.org/drawingml/2006/main">
            <a:r>
              <a:t>Teaching moves: Build the diagram left to right. Pause after each transition and ask what information is created, lost, or constrained.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</a:t>
            </a:r>
          </a:p>
          <a:p xmlns:a="http://schemas.openxmlformats.org/drawingml/2006/main">
            <a:r>
              <a:t>Teaching moves: Explain the core idea, then ask students to connect each bullet to a visible part of the diagram.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</a:t>
            </a:r>
          </a:p>
          <a:p xmlns:a="http://schemas.openxmlformats.org/drawingml/2006/main">
            <a:r>
              <a:t>Teaching moves: Have students predict the result before revealing each step. Work the arithmetic or shape trace on the board.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Use the three-stage sequence to summarize the first half. Ask one student to restate the pattern in their own words.</a:t>
            </a:r>
          </a:p>
          <a:p xmlns:a="http://schemas.openxmlformats.org/drawingml/2006/main">
            <a:r>
              <a:t>After this slide, take a 10-minute break before continuing.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Compare the two choices through one concrete task. Ask which assumption would make the recommendation reverse.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Read the code as a sequence of invariants. Ask students to identify the line where a shape, graph, or data leak error would surface.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Invite students to name one observable signature for each failure. Separate symptoms from root causes.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Run the activity exactly as shown. Ask for reasoning and assumptions, not just an architecture name or numeric answer.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moves: Ask students to explain the three takeaways without looking at the prior slides. Correct connections, not isolated wording.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moves: Collect a one-minute written response. Close by naming the bridge to the next lecture.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3679813c5b4d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50a9469dd94cbf" /><Relationship Type="http://schemas.openxmlformats.org/officeDocument/2006/relationships/slideLayout" Target="/ppt/slideLayouts/slideLayout1.xml" Id="Rf4aa69de99644e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aa69de99644e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9e28106f548e2" /><Relationship Type="http://schemas.openxmlformats.org/officeDocument/2006/relationships/notesSlide" Target="/ppt/notesSlides/notesSlide1.xml" Id="Re2549aea038541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54cde18c6475f" /><Relationship Type="http://schemas.openxmlformats.org/officeDocument/2006/relationships/notesSlide" Target="/ppt/notesSlides/notesSlide2.xml" Id="Rb28b182d9ab340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2cef290ee4eff" /><Relationship Type="http://schemas.openxmlformats.org/officeDocument/2006/relationships/notesSlide" Target="/ppt/notesSlides/notesSlide3.xml" Id="R28e7a1ffdd544a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ecd82a01c4963" /><Relationship Type="http://schemas.openxmlformats.org/officeDocument/2006/relationships/notesSlide" Target="/ppt/notesSlides/notesSlide4.xml" Id="R095bffa29b8544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0e8de9713471a" /><Relationship Type="http://schemas.openxmlformats.org/officeDocument/2006/relationships/notesSlide" Target="/ppt/notesSlides/notesSlide5.xml" Id="Rdf11866d7f1745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536c1837e4d06" /><Relationship Type="http://schemas.openxmlformats.org/officeDocument/2006/relationships/notesSlide" Target="/ppt/notesSlides/notesSlide6.xml" Id="R839a917be4c945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a862f4bee4910" /><Relationship Type="http://schemas.openxmlformats.org/officeDocument/2006/relationships/notesSlide" Target="/ppt/notesSlides/notesSlide7.xml" Id="Rf2bc2afd700a40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7f181eace48c6" /><Relationship Type="http://schemas.openxmlformats.org/officeDocument/2006/relationships/notesSlide" Target="/ppt/notesSlides/notesSlide8.xml" Id="R2e2f1111a23d48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cb57b69fa4524" /><Relationship Type="http://schemas.openxmlformats.org/officeDocument/2006/relationships/notesSlide" Target="/ppt/notesSlides/notesSlide9.xml" Id="R420ec96875bb4b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8e42f98cd49d9" /><Relationship Type="http://schemas.openxmlformats.org/officeDocument/2006/relationships/notesSlide" Target="/ppt/notesSlides/notesSlide10.xml" Id="R799ad72feb4b4a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2191d5f884755" /><Relationship Type="http://schemas.openxmlformats.org/officeDocument/2006/relationships/notesSlide" Target="/ppt/notesSlides/notesSlide11.xml" Id="Rce5e8b7c9adc45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ce7cddb1441ed" /><Relationship Type="http://schemas.openxmlformats.org/officeDocument/2006/relationships/notesSlide" Target="/ppt/notesSlides/notesSlide12.xml" Id="R4f87d879eaf445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456EFC-3891-4706-B2BE-F8B72171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DEEP LEARNING | WEEK 16 | TWO-HOUR LECTURE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5C540-C310-4E37-B86E-3C593745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619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Deployment and Project Defense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46203-ED2C-48BF-B8A7-45291885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54768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A production-ready deep-learning result is a versioned, monitored system supported by defensible experimental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C26BE-3433-4B45-9D4F-E2B9DFE9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52450"/>
            <a:ext cx="5305425" cy="5219700"/>
          </a:xfrm>
          <a:prstGeom xmlns:a="http://schemas.openxmlformats.org/drawingml/2006/main" prst="roundRect">
            <a:avLst>
              <a:gd name="adj" fmla="val 219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711A9-7A77-4A1D-B035-E72E3F2A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190625"/>
            <a:ext cx="10763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30041-ADA1-4897-9DC7-EF8E5913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190625"/>
            <a:ext cx="10763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7D0E2-9D7D-4A41-A583-B1C7C326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190625"/>
            <a:ext cx="10763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EA192-007F-420A-B420-CF01479D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1190625"/>
            <a:ext cx="10763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Registry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6EEDD-B3F3-4D47-9885-2965EDD1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171950"/>
            <a:ext cx="10763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Retrain / rollback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402690-C5BF-4F44-933D-95A3F17F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171950"/>
            <a:ext cx="10763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A65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855244-7AF0-46C0-BE0E-6C6984BC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171950"/>
            <a:ext cx="10763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Serve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23E877-7F2F-4FFA-B20A-8B13B171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171950"/>
            <a:ext cx="10763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Contract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758FA0-2DD9-4EDA-AAF0-163E0D24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343025"/>
            <a:ext cx="14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B39F76-521F-4CB3-B382-D6005563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343025"/>
            <a:ext cx="14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8C3D54-3A14-4173-998D-0FFDB33D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343025"/>
            <a:ext cx="14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E2793B-BD5F-494E-84ED-35B51D02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6588" y="18573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083036-22BD-4918-8BCB-BABEA5A4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324350"/>
            <a:ext cx="14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D26D4B-BA9B-46FE-B1FC-EFE1A1BE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24350"/>
            <a:ext cx="14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B51157-AF1D-4FFA-9E2E-A84CBAB3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324350"/>
            <a:ext cx="14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3631D6-29D5-4979-85C2-68E708A9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838700"/>
            <a:ext cx="4733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↑  evidence changes the next cycle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8C5EA-F664-4C64-9D77-E36F9EDA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314950"/>
            <a:ext cx="4733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Original diagram based on the cited books.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83B7A2-0BA4-488E-B35B-AD10121E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B2 Ch. 11 | B7 Ch. 6-10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692CA3-C9BB-48DF-BEFD-9BF49806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25840B-C92A-47F8-A92B-201E3259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16 | Deployment and Project Defense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A5C188-FDBC-4D1B-9B3C-0534A28E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1/12</a:t>
            </a:r>
          </a:p>
        </p:txBody>
      </p:sp>
    </p:spTree>
    <p:extLst>
      <p:ext uri="{BB962C8B-B14F-4D97-AF65-F5344CB8AC3E}">
        <p14:creationId xmlns:p14="http://schemas.microsoft.com/office/powerpoint/2010/main" val="11248356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85BCED-D261-4AB5-967D-14778D81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C5101-662D-49EC-9786-8620912C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this lecture enables you to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76FCD-9F69-4E01-AF7A-74605C83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79813-E642-4985-9E76-58A9B435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Define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8F51B-BF5C-4F2F-8525-390B2157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716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Define a portable artifact and prediction contract.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7F7D0-B27F-41C8-844C-7083D17A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FB63B-3499-4BE4-A955-57ED91BF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C47B9-52C6-43AF-B0CB-02959291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ED7B7-F4C2-4341-8B4B-7A585111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Measure latency, throughput, compression, and drift.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76C6F-6329-4933-A590-2B5FB4A1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39B41-078D-4EC0-9337-209CDF51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F9D35-20AC-4675-B9F4-78CE6A33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Defend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5984D3-5E79-400D-9F88-FC0BA3AF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Defend a project through baselines, ablations, error analysis, limitations, and rollback plans.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57608-8CF8-4F4F-8CD2-3FBEFF74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35D819-A18D-4F74-998F-FDC11639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09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Learning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A24793-28D2-4405-A0C1-7BAB0FDC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DE8D6A-AB3F-4572-A31F-C5F88DCD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240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Deployment closes the loop between training evidence and live behavior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465B0F-1DDF-4E4B-A749-C3B22719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DA600C-F7EC-4FE3-B05F-C96EBB78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336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Package transforms with the model and prediction contract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0877F3-B2BC-43A3-83F5-BA05E2C1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ED15EC-DF73-40D6-AF68-F595FD19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Batching improves throughput while changing latency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475139-DF55-4C26-8131-CC1B09D9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528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7949E5-CB90-4187-AF2F-932A7A57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528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Drift monitoring needs an action rule, not just a dashboard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AFDCD7-3219-4080-869B-0264AF9B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624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B62449-ABBF-4214-B95E-1F9D5D3C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624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Offline accuracy and production utility answer different questions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8004D7-FED2-4D08-928D-613797B8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809AD3-17D6-4722-B574-CE9C2AC6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720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Defend the evidence, not the final accuracy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D8A707-D52E-4244-A0E9-A86557B4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B2 Ch. 11 | B7 Ch. 6-10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786499-9C71-4097-BA5F-7F30F5F5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406191-408F-447F-9CB6-62CB5FE8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16 | Deployment and Project Defense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D45477-531D-4DB5-A6DE-994FD382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2211537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FA444C-2FA1-49A7-A2F2-26AEEA7B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MENTAL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4B9C5-6B23-400C-8D77-DA5C4F16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Deployment closes the loop between training evidence and live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109AF-DE1F-463C-BFEB-8FE981B8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13A4C-F2B9-4909-AB46-19A0A0B7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2569369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F018B-A12A-4629-95F4-6FBD8989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5194" y="2238375"/>
            <a:ext cx="2569369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6F41D-24EC-4539-8057-D9E4E2D0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7438" y="2238375"/>
            <a:ext cx="2569369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C97BE-F9EE-4133-9676-8733ACAB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9681" y="2238375"/>
            <a:ext cx="2569369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Registry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A79C3-B9FC-481C-B8DD-038E1B8C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2569369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Retrain / rollback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A4E4AD-885C-4626-B714-22AB6C84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5194" y="3524250"/>
            <a:ext cx="2569369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A65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6EAD0B-C23A-4B4A-BE5B-69D01089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7438" y="3524250"/>
            <a:ext cx="2569369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51FD7-F81E-47FC-AA0D-72B8E72E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9681" y="3524250"/>
            <a:ext cx="2569369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Contract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BE2A05-395A-43F0-89A5-CA4F146D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319" y="2390775"/>
            <a:ext cx="14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6249BD-1EF4-4B21-A010-315D5C5C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563" y="2390775"/>
            <a:ext cx="14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7C6944-91F6-404A-9E30-E3BA2AC3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806" y="2390775"/>
            <a:ext cx="14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9E81B6-2A10-4BD3-BFCB-5A491D49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0066" y="28860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25F90-AA3B-4D25-B5BE-205CA92A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319" y="3676650"/>
            <a:ext cx="14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E3B18A-F859-4702-9D85-5CA18705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563" y="3676650"/>
            <a:ext cx="14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0B543B-06E4-4322-AF1A-8158FB4A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806" y="3676650"/>
            <a:ext cx="14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F3BCEA-9805-479E-A70A-3144AFA9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↑  evidence changes the next cycle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CEE585-C896-42FF-A4C7-489258A5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95800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Model quality can decay even when the service remains healthy; data and prediction behavior need separate monitoring.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7A4F59-C66C-4CA2-9126-06F3F238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24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Use this diagram as the organizing map for the rest of the lecture.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0ABBB5-490D-424E-95F8-09D479B8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B2 Ch. 11 | B7 Ch. 6-10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75DF80-07F7-4FD9-B9C7-B72A20B6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49B40E-995E-4A52-8AD5-A81DF03F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16 | Deployment and Project Defense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84A887-362F-4E1E-B7E9-C50B7666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12869422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866566-0463-4778-9829-FE56E459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CORE CONCEPT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3D4A1-F145-43AE-BA17-9A7B9CFF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Package transforms with the model and prediction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1DA1D-7D06-4DE6-93FC-F62838A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Serialize model state, architecture/configuration, labels, and input transforms.</a:t>
            </a:r>
          </a:p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Validate output equivalence after export.</a:t>
            </a:r>
          </a:p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Version the artifact and define ownership, rollback, and compatibility.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C9896-5E95-4E26-8A3C-4B16D67B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09750"/>
            <a:ext cx="5781675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DB69C-A0C5-4592-9DEB-55511B25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479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89892-4E84-49FD-82F0-F1DC71F8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76475"/>
            <a:ext cx="2024063" cy="54610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Preprocess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F39CC-F5CD-465E-93DA-C1FD1F5A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4479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CA5F4-F5A8-4C82-8427-4EC03C99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363" y="2276475"/>
            <a:ext cx="2024063" cy="54610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020D1-2A59-4B37-A08A-E5DAAED9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607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A7402-9F02-4470-9A0B-34A868E9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89275"/>
            <a:ext cx="2024063" cy="54610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Prediction contract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A83AD-8FF1-4BB6-AC81-3375E1EC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32607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C3B499-35D4-4889-B926-75E2000A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363" y="3089275"/>
            <a:ext cx="2024063" cy="54610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Versioned artifact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03333-5872-42D7-A8D0-300571D0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3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A73FAE-1F4A-4FFE-AFD8-68F6378F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02075"/>
            <a:ext cx="2024063" cy="54610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Serve + monitor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05A1C8-2AF4-4C34-ACF2-D875C3F1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14875"/>
            <a:ext cx="5114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 production-ready deep-learning result is a versioned, monitored system supported by defensible experimental evidence.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89AAD3-EB42-4F95-AB64-EF0A28A6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B2 Ch. 11 | B7 Ch. 6-10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E431F5-ADA1-4637-AADA-B138DDD4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C3E312-D9C9-4F50-9C3A-6BFC3379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16 | Deployment and Project Defense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1477BD-3F66-48F1-94C8-409321C4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8582555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72727E-CE21-4446-A4B4-D416E9B2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D9E5B-AB52-4805-A048-2A9A9E9C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Batching improves throughput while changing latency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1D2EC-D105-4BEF-86BB-248795BA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2349D-DEFE-4B0A-8756-AACEBBFB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Single-item inference takes 8 ms; a batch of 16 takes 40 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D4461-E993-469B-A107-979D7BBC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30C0A2-B6D7-45E1-BF6D-E5EAFF9B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Single throughput is 125 items per second.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0C013-83A1-40D6-B7B8-87D7CC5E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75C7E-D26A-4F2B-BBD5-8C6263F9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Batch throughput is 16/0.040 = 400 items per second.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0BD3E-E44C-4797-9B4D-F8BC03B6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B32CC-D894-4225-BF26-00FF405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But an item may wait for batch formation, increasing end-to-end latency.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0E0150-F39C-4DB8-87FC-2BD6229A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24375"/>
            <a:ext cx="876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858A7-33CB-474F-8958-7C7F11B1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70A890-6C52-46F7-8DD0-AEC8A1F0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67250"/>
            <a:ext cx="695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correct operating point depends on the service-level objective, arrival pattern, and cost.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6077D5-EFA9-49C2-BDDD-46C730C0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B2 Ch. 11 | B7 Ch. 6-10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63D1C0-B10C-427B-9B45-4F9F593B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805599-8B82-440C-9D34-8956A8FC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16 | Deployment and Project Defense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18D940-4169-4942-9E34-528E0F4E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15747646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ABE892-8D7B-4AF1-8606-409AC622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DESIGN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D6440F-ABAB-4B3F-8F3F-5C629718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Drift monitoring needs an action rule, not just a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6D143-FD2A-4780-9563-0E6A0FA2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11277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Covariate drift changes inputs; label drift changes outcomes; concept drift changes the mapping.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Monitor data statistics, confidence, latency, errors, and delayed ground truth.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Define thresholds for investigation, rollback, or retraining.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A0FF2-FF1F-405F-9C05-15D8D36E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6725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23584-E07C-4235-87D3-C5DF5BF4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86EC4-76BE-49F9-BFE3-7B688EB2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BFE3B-1BF7-4BE8-AF21-06AA5304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Detect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5E4B7-F00E-4648-928D-97D55E3C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080E2-9EED-4D32-A5F0-34AFBBEC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0FA30F-0F12-4E06-80A1-0E6FB6D0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Confirm impact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406BA-3163-415B-AE6B-B845C22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8C3A3D-5C50-4DC9-9EE3-312C9827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C72C8-890A-4822-A21E-047C2E96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Act and record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D320B-BA76-4FE8-8579-E6AF0B16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150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 useful pattern makes the next experiment explicit.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AF655A-0D1D-4248-A912-75E13CC3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B2 Ch. 11 | B7 Ch. 6-10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18CE0B-7FCF-4B58-91DC-3FBB3863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8AEF73-5ADA-42F5-A366-CE508A9E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16 | Deployment and Project Defense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3D9483-CC77-434C-905F-3E93F1C1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707880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0D5EAB-5883-4760-B77D-02C002D4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DECISION 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369E3-6EE7-4274-A0F3-80C5128A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Offline accuracy and production utility answer different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9E24D-1D35-4424-ACA7-2BCBC993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Deployment adds latency, cost, reliability, feedback, and harm constraints that do not appear in a static test set.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64EE0-7E93-4A58-B899-1E6115C3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55435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DE082-1ECB-49A5-AB2E-A84D6F38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Offline experiment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1FD26-8421-4EAD-A40C-174BFBE8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4933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Fixed dataset and metric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Controlled configuration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Reproducible comparison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5AD1B-0448-43FE-AF70-BD57A6F9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55435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644B3-65AD-4C05-9455-E096DB2A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242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Live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1DA19-4B6D-46F2-8024-2ACA8956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62375"/>
            <a:ext cx="4933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Changing users and data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Operational constraints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Monitoring and rollback required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118B4-8F85-42C2-8054-181EAA30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B2 Ch. 11 | B7 Ch. 6-10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E4F574-AFBC-44D5-B094-0406A99D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53723-59F2-4238-94AF-F476C67A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16 | Deployment and Project Defense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33D80A-EA72-4063-B1A9-EF1C6A7E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9399722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EC308D-A9BE-4FEA-9E3F-7911D18A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IMPLEMENTATION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5268A-DA74-4981-89B3-2FFF318D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Export validation needs representative cases and tolerances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DFB09-218C-45A9-BF9B-9854C52F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65722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18212B"/>
          </a:solidFill>
          <a:ln xmlns:a="http://schemas.openxmlformats.org/drawingml/2006/main" w="9525">
            <a:solidFill>
              <a:srgbClr val="1821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2D19D-274B-46E7-8AD2-C926D1AE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6000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scripted = torch.jit.trace(model.eval(), example)</a:t>
            </a:r>
          </a:p>
          <a:p xmlns:a="http://schemas.openxmlformats.org/drawingml/2006/main">
            <a:pPr algn="l">
              <a:defRPr sz="142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scripted.save('model.ts')</a:t>
            </a:r>
          </a:p>
          <a:p xmlns:a="http://schemas.openxmlformats.org/drawingml/2006/main">
            <a:pPr algn="l">
              <a:defRPr sz="142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reloaded = torch.jit.load('model.ts')</a:t>
            </a:r>
          </a:p>
          <a:p xmlns:a="http://schemas.openxmlformats.org/drawingml/2006/main">
            <a:pPr algn="l">
              <a:defRPr sz="142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for batch in representative_inputs:</a:t>
            </a:r>
          </a:p>
          <a:p xmlns:a="http://schemas.openxmlformats.org/drawingml/2006/main">
            <a:pPr algn="l">
              <a:defRPr sz="142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    native = model(batch)</a:t>
            </a:r>
          </a:p>
          <a:p xmlns:a="http://schemas.openxmlformats.org/drawingml/2006/main">
            <a:pPr algn="l">
              <a:defRPr sz="142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    exported = reloaded(batch)</a:t>
            </a:r>
          </a:p>
          <a:p xmlns:a="http://schemas.openxmlformats.org/drawingml/2006/main">
            <a:pPr algn="l">
              <a:defRPr sz="142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    assert_close(native, exported, rtol=1e-4, atol=1e-5)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8A341-7801-4610-9B84-BE7BCA3E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050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to watch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08A61-65D2-47C8-9220-565AFED1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3BB515-AE1F-42D0-B6CC-34A21D83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47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Test multiple shapes and edge cases.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5D63B-3578-4B31-B975-697C8F38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CA46D8-C010-4707-B45C-90B45CC6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004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Tracing may miss data-dependent control flow.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DEE57-6C1E-4DC0-A778-8AB62B5F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72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E29FD5-F9E2-4A3D-9B17-8279F77C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52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Package transforms and benchmark separately.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9472D-F19B-4D61-9D90-12F505D6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B2 Ch. 11 | B7 Ch. 6-10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42EE0-BDB5-44A7-8BC7-E17529C4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15FE80-FB7B-49C1-96BD-BFD53B0B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16 | Deployment and Project Defense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B0770A-8D7C-4E49-9372-8EC37FA9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17910450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6CE95E-C655-49DA-80C5-969CF322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FAILURE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0F103-C157-42FD-B436-1967B529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Production failures can be silent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0AC655-365E-4602-94A9-0C1DB1A1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6C63D-7EFF-4E3D-8118-67A9A0AE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2B162-5CB4-4D95-A7CC-8C1613DB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Training-serving skew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879A1-6CB8-41CB-BD6D-EBEF5D53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Live preprocessing differs from the validated pipeline.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5717F-84B5-4F19-A336-A27AC161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382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E4B5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B0485-FA23-42DB-AEA4-0F907893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485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2540F-1991-4DAD-B9BA-69DFDF36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002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Unlabeled drift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9DB3F-CECC-40D5-A8CA-EFCE7497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003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Input or confidence changes before ground-truth accuracy is available.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294B6-2DE2-4666-A66B-353BEB84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2382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87CB70-0065-4A86-99EB-2FDDC49B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85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2D94FC-434D-4699-BC8D-2CD5AFE4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002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No rollback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39E739-8642-4663-8473-A6E5491D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003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 harmful release cannot be reverted quickly or audited.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31AC13-1180-441C-810B-0973E5DE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95875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Diagnose with evidence before changing the architecture.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99AAD4-1F68-49E3-B33D-502AD412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B2 Ch. 11 | B7 Ch. 6-10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26070F-C7B9-41F3-9522-27B8A03A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09F1F0-A6C0-4014-80A6-E91E260A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16 | Deployment and Project Defense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B467E3-9015-43F6-8C63-B78CF078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17832134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35260C-BC51-4B40-85E6-A6E7D2D2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ACTIVE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17696-EEB4-45D6-AE83-E9001C90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Defend the evidence, not the final accuracy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B8838-32E5-4DF7-9AB9-F0D3563A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404FE-D3BD-47DA-99C4-C3176140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Peer-review one mini-capstone: identify its strongest claim, weakest evidence, likely production risk, and highest-value next experiment.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3CFE9-C0FB-49E2-AD13-B980FEA1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908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A6586-3C3F-47C2-A95F-249F4260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Trace claim to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159A1-0C92-448E-97BF-C7EC22D3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1908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A8D35F-8906-47EA-A7D9-05B9B5B4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619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Check baseline and split.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45F74-F35D-4510-8181-35F1A59E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908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CE8AC-C21B-4C8E-BEF7-C58F4E12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19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Propose one falsifying test and one monitoring rule.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D30CDB-5260-4A65-AC9F-16EBEE83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291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Share-out criterion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F0EE40-E461-40C8-9716-B8C81E4B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 strong defense names uncertainty and a credible next decision.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C9ACA5-11A3-4028-8CA9-A6D2FA36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B2 Ch. 11 | B7 Ch. 6-10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0F8F72-1FFF-40F6-9729-EB3EFF86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9A2D2D-1006-43C6-AFCA-4809EC70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16 | Deployment and Project Defense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872ED0-E3B3-466A-ACEA-14D8B20B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9217588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D19976-FE6E-436E-862D-9B2FCFBF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4EB67-96C3-4416-BC25-FED4F5C3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Three ideas to carry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86735-CD15-40B0-B2B3-A01E7031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1937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3F1AF-0E47-4677-9A12-D613F107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4AAB3-88C3-4DB7-9017-61613A3C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EF6C9-0426-4A94-BD69-AFAC3BCB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Artifacts include preprocessing, metadata, and contracts.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4858E-0AEF-449F-A4A3-7C387D1A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8F040-7F8A-464A-85E0-5B599754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18754-11E9-4AA2-B38C-ECDF92B8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Latency, throughput, cost, and drift shape real utility.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BDE9C-D9B6-40F1-9B70-B225AFDF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418572-A688-4DD0-B0B2-45B5025C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2707C6-0CB8-4052-8358-4DFBBA73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Project quality is the strength of its reasoning and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76D17-E676-49D4-B6F5-A0A5A437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 production-ready deep-learning result is a versioned, monitored system supported by defensible experimental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82874-05C8-40BE-8878-D8D96C92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B2 Ch. 11 | B7 Ch. 6-10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90B7DB-22A4-4C9D-BBA8-69047534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BF2BD-F341-4C97-B251-4380A307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16 | Deployment and Project Defense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7ADEBF-4FAB-4A83-A6E4-1D3AEFCE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16890558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064E31-3D5B-4BB4-B38C-7569B276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7C9EC-2699-446F-86A1-B2F2D13A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 production-ready deep-learning result is a versioned, monitored system supported by defensible experimental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C9C44-69F0-4499-92F2-179A12F0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Answer before you leave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02631-B35C-4294-8CE4-5EBADDDD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03A9EE-CD1B-49CE-9070-CF507C24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must trigger rollback?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EFA64-3583-4284-A11B-9E4DA3CF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52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107FC-14A4-44E8-8AE1-EBF0DA52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Which project claim needs the strongest additional evidence?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3AFD1-16A4-4B42-AB7F-7D70A883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05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Book references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BF2EC-E030-46A3-8D00-658974B3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6B923-13B9-42D9-91A6-35449222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290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Goodfellow, Bengio &amp; Courville, Deep Learning (MIT Press, 2016)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D9AD3-D5BD-4347-8AED-28F4C1CF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29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1192B0-78E2-407E-9DC0-A468912F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Huyen, Designing Machine Learning Systems (O'Reilly Media, 2022)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635620-6BEF-4A1C-A617-ECF948DD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9A7B0A-F2B4-4272-9D39-C063CB7B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16 | Deployment and Project Defense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E5CAAC-7A12-42C3-AB65-AEABB11B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19590641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2026-07-12T22:12:28.6360000Z</dcterms:created>
  <dcterms:modified xsi:type="dcterms:W3CDTF">2026-07-12T22:12:28.6360000Z</dcterms:modified>
</coreProperties>
</file>