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84a7c752af4d96" /><Relationship Type="http://schemas.openxmlformats.org/officeDocument/2006/relationships/extended-properties" Target="/docProps/app.xml" Id="R5ae573f8ec7d4136" /><Relationship Type="http://schemas.openxmlformats.org/officeDocument/2006/relationships/officeDocument" Target="/ppt/presentation.xml" Id="Rf6d611530b6845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8b0a09d4da4caa"/>
  </p:sldMasterIdLst>
  <p:notesMasterIdLst>
    <p:notesMasterId xmlns:r="http://schemas.openxmlformats.org/officeDocument/2006/relationships" r:id="R97b3d9e3ab2c4dcd"/>
  </p:notesMasterIdLst>
  <p:sldIdLst>
    <p:sldId xmlns:r="http://schemas.openxmlformats.org/officeDocument/2006/relationships" id="256" r:id="R6ca6552cdfd841a8"/>
    <p:sldId xmlns:r="http://schemas.openxmlformats.org/officeDocument/2006/relationships" id="257" r:id="R6732a2db554c4ec2"/>
    <p:sldId xmlns:r="http://schemas.openxmlformats.org/officeDocument/2006/relationships" id="258" r:id="R6c4378cbfa7547b8"/>
    <p:sldId xmlns:r="http://schemas.openxmlformats.org/officeDocument/2006/relationships" id="259" r:id="R2a011283191a47de"/>
    <p:sldId xmlns:r="http://schemas.openxmlformats.org/officeDocument/2006/relationships" id="260" r:id="Rfb4533fc3a634e8c"/>
    <p:sldId xmlns:r="http://schemas.openxmlformats.org/officeDocument/2006/relationships" id="261" r:id="R3a563713b3b04d3f"/>
    <p:sldId xmlns:r="http://schemas.openxmlformats.org/officeDocument/2006/relationships" id="262" r:id="R3406b25bd30c47ce"/>
    <p:sldId xmlns:r="http://schemas.openxmlformats.org/officeDocument/2006/relationships" id="263" r:id="R084fc990b3184aac"/>
    <p:sldId xmlns:r="http://schemas.openxmlformats.org/officeDocument/2006/relationships" id="264" r:id="R8d9b1ec2a2d6428b"/>
    <p:sldId xmlns:r="http://schemas.openxmlformats.org/officeDocument/2006/relationships" id="265" r:id="Rc92e222b271c42d3"/>
    <p:sldId xmlns:r="http://schemas.openxmlformats.org/officeDocument/2006/relationships" id="266" r:id="R6e17237adeed429b"/>
    <p:sldId xmlns:r="http://schemas.openxmlformats.org/officeDocument/2006/relationships" id="267" r:id="R6305ed6b105b439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684d87221445d8" /><Relationship Type="http://schemas.openxmlformats.org/officeDocument/2006/relationships/slideMaster" Target="/ppt/slideMasters/slideMaster1.xml" Id="Rf28b0a09d4da4caa" /><Relationship Type="http://schemas.openxmlformats.org/officeDocument/2006/relationships/notesMaster" Target="/ppt/notesMasters/notesMaster1.xml" Id="R97b3d9e3ab2c4dcd" /><Relationship Type="http://schemas.openxmlformats.org/officeDocument/2006/relationships/presProps" Target="/ppt/presProps.xml" Id="Rc83e402805fc465a" /><Relationship Type="http://schemas.openxmlformats.org/officeDocument/2006/relationships/tableStyles" Target="/ppt/tableStyles.xml" Id="R9bfa37993bee41c2" /><Relationship Type="http://schemas.openxmlformats.org/officeDocument/2006/relationships/slide" Target="/ppt/slides/slide1.xml" Id="R6ca6552cdfd841a8" /><Relationship Type="http://schemas.openxmlformats.org/officeDocument/2006/relationships/slide" Target="/ppt/slides/slide2.xml" Id="R6732a2db554c4ec2" /><Relationship Type="http://schemas.openxmlformats.org/officeDocument/2006/relationships/slide" Target="/ppt/slides/slide3.xml" Id="R6c4378cbfa7547b8" /><Relationship Type="http://schemas.openxmlformats.org/officeDocument/2006/relationships/slide" Target="/ppt/slides/slide4.xml" Id="R2a011283191a47de" /><Relationship Type="http://schemas.openxmlformats.org/officeDocument/2006/relationships/slide" Target="/ppt/slides/slide5.xml" Id="Rfb4533fc3a634e8c" /><Relationship Type="http://schemas.openxmlformats.org/officeDocument/2006/relationships/slide" Target="/ppt/slides/slide6.xml" Id="R3a563713b3b04d3f" /><Relationship Type="http://schemas.openxmlformats.org/officeDocument/2006/relationships/slide" Target="/ppt/slides/slide7.xml" Id="R3406b25bd30c47ce" /><Relationship Type="http://schemas.openxmlformats.org/officeDocument/2006/relationships/slide" Target="/ppt/slides/slide8.xml" Id="R084fc990b3184aac" /><Relationship Type="http://schemas.openxmlformats.org/officeDocument/2006/relationships/slide" Target="/ppt/slides/slide9.xml" Id="R8d9b1ec2a2d6428b" /><Relationship Type="http://schemas.openxmlformats.org/officeDocument/2006/relationships/slide" Target="/ppt/slides/slide10.xml" Id="Rc92e222b271c42d3" /><Relationship Type="http://schemas.openxmlformats.org/officeDocument/2006/relationships/slide" Target="/ppt/slides/slide11.xml" Id="R6e17237adeed429b" /><Relationship Type="http://schemas.openxmlformats.org/officeDocument/2006/relationships/slide" Target="/ppt/slides/slide12.xml" Id="R6305ed6b105b43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ccf5018b9246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1a4e9d37d149d1" /><Relationship Type="http://schemas.openxmlformats.org/officeDocument/2006/relationships/notesMaster" Target="/ppt/notesMasters/notesMaster1.xml" Id="Rc4c58f9ead1849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abbc126bc6463d" /><Relationship Type="http://schemas.openxmlformats.org/officeDocument/2006/relationships/notesMaster" Target="/ppt/notesMasters/notesMaster1.xml" Id="Re25b14ea13984b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334ef4fce94769" /><Relationship Type="http://schemas.openxmlformats.org/officeDocument/2006/relationships/notesMaster" Target="/ppt/notesMasters/notesMaster1.xml" Id="Ra4f8f67658b64c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38b1834710475a" /><Relationship Type="http://schemas.openxmlformats.org/officeDocument/2006/relationships/notesMaster" Target="/ppt/notesMasters/notesMaster1.xml" Id="Rd9646fa92c9c4f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4d5a0b3f0449d8" /><Relationship Type="http://schemas.openxmlformats.org/officeDocument/2006/relationships/notesMaster" Target="/ppt/notesMasters/notesMaster1.xml" Id="R187c9811de6242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513329509e4d4c" /><Relationship Type="http://schemas.openxmlformats.org/officeDocument/2006/relationships/notesMaster" Target="/ppt/notesMasters/notesMaster1.xml" Id="R3ca7c19db29541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0e5f75fdbb4d7d" /><Relationship Type="http://schemas.openxmlformats.org/officeDocument/2006/relationships/notesMaster" Target="/ppt/notesMasters/notesMaster1.xml" Id="Rc84eb6dfe2af42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033e36ef53455a" /><Relationship Type="http://schemas.openxmlformats.org/officeDocument/2006/relationships/notesMaster" Target="/ppt/notesMasters/notesMaster1.xml" Id="Ra090582228d741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9348009b2349b6" /><Relationship Type="http://schemas.openxmlformats.org/officeDocument/2006/relationships/notesMaster" Target="/ppt/notesMasters/notesMaster1.xml" Id="R1203f9bd87854b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8f3bc8333943eb" /><Relationship Type="http://schemas.openxmlformats.org/officeDocument/2006/relationships/notesMaster" Target="/ppt/notesMasters/notesMaster1.xml" Id="R5e50dad1da5848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913af5649d40b8" /><Relationship Type="http://schemas.openxmlformats.org/officeDocument/2006/relationships/notesMaster" Target="/ppt/notesMasters/notesMaster1.xml" Id="R59ab9725565149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0eb07e5b9548d1" /><Relationship Type="http://schemas.openxmlformats.org/officeDocument/2006/relationships/notesMaster" Target="/ppt/notesMasters/notesMaster1.xml" Id="R2525733418cb49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Open with the course question and ask students where they have already encountered this model family.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Preview the conceptual arc. Ask students to choose which outcome feels least secure and revisit that choice at the exit ticket.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12 minutes.</a:t>
            </a:r>
          </a:p>
          <a:p xmlns:a="http://schemas.openxmlformats.org/drawingml/2006/main">
            <a:r>
              <a:t>Teaching moves: Build the diagram left to right. Pause after each transition and ask what information is created, lost, or constrained.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Explain the core idea, then ask students to connect each bullet to a visible part of the diagram.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15 minutes.</a:t>
            </a:r>
          </a:p>
          <a:p xmlns:a="http://schemas.openxmlformats.org/drawingml/2006/main">
            <a:r>
              <a:t>Teaching moves: Have students predict the result before revealing each step. Work the arithmetic or shape trace on the board.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Use the three-stage sequence to summarize the first half. Ask one student to restate the pattern in their own words.</a:t>
            </a:r>
          </a:p>
          <a:p xmlns:a="http://schemas.openxmlformats.org/drawingml/2006/main">
            <a:r>
              <a:t>After this slide, take a 10-minute break before continuing.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Compare the two choices through one concrete task. Ask which assumption would make the recommendation reverse.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10 minutes.</a:t>
            </a:r>
          </a:p>
          <a:p xmlns:a="http://schemas.openxmlformats.org/drawingml/2006/main">
            <a:r>
              <a:t>Teaching moves: Read the code as a sequence of invariants. Ask students to identify the line where a shape, graph, or data leak error would surface.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Invite students to name one observable signature for each failure. Separate symptoms from root causes.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8 minutes.</a:t>
            </a:r>
          </a:p>
          <a:p xmlns:a="http://schemas.openxmlformats.org/drawingml/2006/main">
            <a:r>
              <a:t>Teaching moves: Run the activity exactly as shown. Ask for reasoning and assumptions, not just an architecture name or numeric answer.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 minutes.</a:t>
            </a:r>
          </a:p>
          <a:p xmlns:a="http://schemas.openxmlformats.org/drawingml/2006/main">
            <a:r>
              <a:t>Teaching moves: Ask students to explain the three takeaways without looking at the prior slides. Correct connections, not isolated wording.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 minutes.</a:t>
            </a:r>
          </a:p>
          <a:p xmlns:a="http://schemas.openxmlformats.org/drawingml/2006/main">
            <a:r>
              <a:t>Teaching moves: Collect a one-minute written response. Close by naming the bridge to the next lecture.</a:t>
            </a:r>
          </a:p>
          <a:p xmlns:a="http://schemas.openxmlformats.org/drawingml/2006/main">
            <a:r>
              <a:t>Invite questions, then connect the discussion to the next slide's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a04f58e6a43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44cfd6d2a74c53" /><Relationship Type="http://schemas.openxmlformats.org/officeDocument/2006/relationships/slideLayout" Target="/ppt/slideLayouts/slideLayout1.xml" Id="R5d8b34b4f5664c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8b34b4f5664c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df2426add4695" /><Relationship Type="http://schemas.openxmlformats.org/officeDocument/2006/relationships/notesSlide" Target="/ppt/notesSlides/notesSlide1.xml" Id="Rf78f2969809b4e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8bb15e7734e79" /><Relationship Type="http://schemas.openxmlformats.org/officeDocument/2006/relationships/notesSlide" Target="/ppt/notesSlides/notesSlide2.xml" Id="Rd09ed0e92bd449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91ce44a7040be" /><Relationship Type="http://schemas.openxmlformats.org/officeDocument/2006/relationships/notesSlide" Target="/ppt/notesSlides/notesSlide3.xml" Id="R71cae18eac03456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1d7ca5a694aec" /><Relationship Type="http://schemas.openxmlformats.org/officeDocument/2006/relationships/notesSlide" Target="/ppt/notesSlides/notesSlide4.xml" Id="R631b62461a4f4f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63473d9594be9" /><Relationship Type="http://schemas.openxmlformats.org/officeDocument/2006/relationships/notesSlide" Target="/ppt/notesSlides/notesSlide5.xml" Id="R014b62acd45a41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59fff5561404d" /><Relationship Type="http://schemas.openxmlformats.org/officeDocument/2006/relationships/notesSlide" Target="/ppt/notesSlides/notesSlide6.xml" Id="Rd88247337ed441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59956e2104fbb" /><Relationship Type="http://schemas.openxmlformats.org/officeDocument/2006/relationships/notesSlide" Target="/ppt/notesSlides/notesSlide7.xml" Id="R040f8ba4497145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ef3fa836149d1" /><Relationship Type="http://schemas.openxmlformats.org/officeDocument/2006/relationships/notesSlide" Target="/ppt/notesSlides/notesSlide8.xml" Id="Rfda47c9baa5f42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c2011191a447b" /><Relationship Type="http://schemas.openxmlformats.org/officeDocument/2006/relationships/notesSlide" Target="/ppt/notesSlides/notesSlide9.xml" Id="R7c92ec2f17a444a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11cea5bed435f" /><Relationship Type="http://schemas.openxmlformats.org/officeDocument/2006/relationships/notesSlide" Target="/ppt/notesSlides/notesSlide10.xml" Id="Rcc08136f25ac4d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421e41f8c4c19" /><Relationship Type="http://schemas.openxmlformats.org/officeDocument/2006/relationships/notesSlide" Target="/ppt/notesSlides/notesSlide11.xml" Id="Rcac635259ee641a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801e068284c81" /><Relationship Type="http://schemas.openxmlformats.org/officeDocument/2006/relationships/notesSlide" Target="/ppt/notesSlides/notesSlide12.xml" Id="Re0173909622a44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0A67AC-A590-4580-9C82-E7F544C9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DEEP LEARNING | WEEK 15 | TWO-HOUR LECTURE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2A89E-13B6-47EC-8495-AC6FD199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619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Explainability and Responsible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1EE8C-CDC9-4AC7-885C-AE0C5E99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54768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An explanation or fairness metric is useful only when it answers a stakeholder question and survives validity checks.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939F9-0AA6-4706-B93B-E1198B87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52450"/>
            <a:ext cx="5305425" cy="5219700"/>
          </a:xfrm>
          <a:prstGeom xmlns:a="http://schemas.openxmlformats.org/drawingml/2006/main" prst="roundRect">
            <a:avLst>
              <a:gd name="adj" fmla="val 219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79621-797F-4B47-BED8-4C03787D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190625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CEA21F-0EF0-40B9-9FA6-BA85E7CE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190625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107B6-D2BA-40AC-834D-FB7F4708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190625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00760-6CA6-4EFF-95C6-BB0DC3E8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1190625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4067C-A04A-4039-9D08-694ABB40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Reframe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CE0EDC-CAC9-4BD7-8B5B-4123686B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171950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A65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AE51F9-38C8-4047-B9CD-78803955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71950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Social outcome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1F340-A693-4716-B462-31F85E1D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171950"/>
            <a:ext cx="10763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A8EA8-058F-4BBB-8C01-BA046277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343025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CF681-61C5-4499-8AB1-B73870AA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343025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DFB72-576C-491F-8742-55E38CEB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343025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6E755-6E8C-4076-BDCD-496456CE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588" y="18573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7FA73-9D69-4625-8502-2568DD6A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243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E7DB7-D9CC-4E97-B0EA-3D7F664A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243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4B5C85-117B-4AD6-9902-DAF116D0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3243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8DC6B1-BCAA-40DA-B381-3861D49F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38700"/>
            <a:ext cx="47339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↑  evidence changes the next cycle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623BB-8D43-442B-B438-FC7F052A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314950"/>
            <a:ext cx="4733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Original diagram based on the cited books.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9D5E91-376B-4327-B28E-25A36A2B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21 | B6 Ch. 4-5 and 8 | B7 Ch. 6, 8, 11 | B8 Ch. 1, 3-5, 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906292-0F9E-4BF3-949F-6819C449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5EBD8-FA74-404C-9682-406C70F8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15 | Explainability and Responsible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94E12B-48D2-4162-AEF3-DCC14073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1/12</a:t>
            </a:r>
          </a:p>
        </p:txBody>
      </p:sp>
    </p:spTree>
    <p:extLst>
      <p:ext uri="{BB962C8B-B14F-4D97-AF65-F5344CB8AC3E}">
        <p14:creationId xmlns:p14="http://schemas.microsoft.com/office/powerpoint/2010/main" val="15883590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14D71F-34B1-41F1-B234-10A02D2F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LEARNING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7B680-76E9-4AA9-8DFF-C42DD3A3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this lecture enables you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36C7F-E73E-4575-8F15-A652677D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24540-A17F-4C6E-9312-B2551729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835AB-72BA-4684-9D59-A3C5C4E4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Match explanation methods to local, global, and stakeholder questions.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F3431-14D2-40D7-A5FF-FE0B62EF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193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3F334-3F32-4ED0-A5BB-DC2C3C8A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527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AA3F5-A396-4B37-8F07-F4C7C8AD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1B410-DD7F-4751-9E9F-DEC1A8C1A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384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Test explanation faithfulness, stability, and calibration.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7B372-7461-4852-9C52-C9D0BA55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861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92F6AE-BCA0-4928-8CD2-50F498F7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C5BE1-8816-4FB1-ACA2-DF52ED5E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1FB85-7607-4EA2-8C2F-9686DA29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Audit subgroup performance and document fairness, privacy, safety, and sustainability limits.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26DD77-9883-41A5-A056-31C8547C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54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B332A-3680-46EC-9754-DED015A8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097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Learning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95BBC-5C36-4E1F-A995-4DAAD2D8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66358-3CA9-440D-908F-855658BF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Responsible evidence spans the whole lifecycle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8C1C3-01DE-46CB-A656-41FF7614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336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991C9-B296-4C05-8E5C-4655C969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Explanations are claims that need tests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9CDE74-803F-4A75-B1C3-D7D39BC9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731D1-B747-47D5-A587-4A0A2202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Two group confusion matrices can support conflicting fairness conclusions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AB704-F9E2-4955-8C66-E2075744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528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C9CC77-5229-471E-BB93-63DC0601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528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Model cards make limitations part of the artifact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4FCAC5-121A-430B-AF4C-47E0B8FB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624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1D0C5-2BA4-45B3-A775-42C070E9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624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Plausible explanations and faithful explanations are not the same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69ACCD-5217-43F9-95C6-B79577E7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CF3B9-19B9-4DDD-BF35-9E993181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720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evidence for a specific stakeholder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EB2F47-38AF-4A1E-9A55-2580E827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21 | B6 Ch. 4-5 and 8 | B7 Ch. 6, 8, 11 | B8 Ch. 1, 3-5, 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08995D-DA3C-47FF-8EC6-89D41F9F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6CFC9F-B195-4195-8D8A-3FF443DB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15 | Explainability and Responsible 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1A511-7B0A-44EC-85C4-09D1D389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2/12</a:t>
            </a:r>
          </a:p>
        </p:txBody>
      </p:sp>
    </p:spTree>
    <p:extLst>
      <p:ext uri="{BB962C8B-B14F-4D97-AF65-F5344CB8AC3E}">
        <p14:creationId xmlns:p14="http://schemas.microsoft.com/office/powerpoint/2010/main" val="995746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D50679-1EBC-4056-B412-8087B9A8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8A12CF-62A6-4BCA-B587-11955495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Responsible evidence spans the whole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101BE-EF7F-4386-B22E-311C9078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F7C14-96B8-4535-8E05-04C139FB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A3D39-5D98-429B-B1EF-EBF9F2F4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194" y="2238375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44FE4-20E9-43C5-ADF3-7E696457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438" y="2238375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A7813-3E0B-4914-A07A-53997861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681" y="2238375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1A0F4-650E-4F2C-A7E1-656C6C75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Reframe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34C96-4F32-4F94-BEC7-692CEE2E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5194" y="3524250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A65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0F5BE-6CD5-4C3A-8449-A6DFD2C7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438" y="3524250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Social outcome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A2FC2-615B-4128-AFC4-DC77AEAE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9681" y="3524250"/>
            <a:ext cx="2569369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7B71D-05DD-4600-854A-8ED6FDC2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319" y="2390775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925E4-640C-47F0-B7CC-DCD8A4E4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2390775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B8DCE-2778-4A1B-A13F-B5C97DE8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806" y="2390775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0DAD8A-E2BE-4D32-AA34-747B9A1A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066" y="2886075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9EF6E-BCA6-4AF3-A6B2-A378D21F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2319" y="36766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CB388-841A-4785-BDF3-AF8CE1A2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36766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543834-7FFD-43A9-95DD-3EAAB4E0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806" y="3676650"/>
            <a:ext cx="142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3907D-4CC7-44D2-B5FE-3ECDF8ED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↑  evidence changes the next cycle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DBF92-DCFD-45CE-8DFB-129DB1FE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9580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Bias can enter before training and grow after deployment; intervention points must be assigned to responsible people.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369B6-A42D-48AC-8591-B21B401C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24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Use this diagram as the organizing map for the rest of the lecture.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264BB-02CA-4AE2-A592-D1F893D5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21 | B6 Ch. 4-5 and 8 | B7 Ch. 6, 8, 11 | B8 Ch. 1, 3-5, 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2E3E9-BE71-412C-B9C0-DB5B1686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1BADCD-6169-4DC0-B6EC-DC5A069D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15 | Explainability and Responsible AI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4C7F0B-CD3B-41B4-9737-36404A9C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3/12</a:t>
            </a:r>
          </a:p>
        </p:txBody>
      </p:sp>
    </p:spTree>
    <p:extLst>
      <p:ext uri="{BB962C8B-B14F-4D97-AF65-F5344CB8AC3E}">
        <p14:creationId xmlns:p14="http://schemas.microsoft.com/office/powerpoint/2010/main" val="13491915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62131D-E17C-41F0-BE87-C40DBB50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CORE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7CC9D-9233-46D5-8266-F80F00AB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Explanations are claims that need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B0C26-11E3-4D72-9B59-B13B96D3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5048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Saliency and Grad-CAM use gradients to localize influential input regions.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LIME and SHAP approximate local feature contributions under assumptions.</a:t>
            </a:r>
          </a:p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Occlusion, randomization, and stability tests probe whether the explanation follows model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A73CC-4210-456B-8EA1-020D1B93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238250"/>
            <a:ext cx="5781675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8BA9B-37F3-493A-A640-910D5822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764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06E305-2451-4033-BD86-4F3665FEB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7049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Stakeholder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DD2CDE-F08D-430A-98E5-2474770D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8764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13D17-0AD1-48A5-9062-998D19DB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17049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Explanation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A776D-5B46-4572-A6FC-C07F9CA2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9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6A53B-5A47-4A95-B90B-0E0A6027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177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Sanity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0CF66-FC08-47AF-8825-5E6F6845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26892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8303F-EC61-4BAA-BA2C-BADA83F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7363" y="25177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833B36-B44A-403C-AF49-6DFADB77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20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EB662A-12AC-4118-9312-D5C746D05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0575"/>
            <a:ext cx="2024063" cy="54610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247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9D35BC-9578-4C78-876A-34EDD8A2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5114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An explanation or fairness metric is useful only when it answers a stakeholder question and survives validity checks.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39358-9B2F-4429-A25E-ECC23647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21 | B6 Ch. 4-5 and 8 | B7 Ch. 6, 8, 11 | B8 Ch. 1, 3-5, 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314B70-4AA3-468C-86F6-26375562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A7BB4-DA64-415D-B02F-963BF07A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15 | Explainability and Responsible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DDE007-D832-4670-A268-249AC81B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4/12</a:t>
            </a:r>
          </a:p>
        </p:txBody>
      </p:sp>
    </p:spTree>
    <p:extLst>
      <p:ext uri="{BB962C8B-B14F-4D97-AF65-F5344CB8AC3E}">
        <p14:creationId xmlns:p14="http://schemas.microsoft.com/office/powerpoint/2010/main" val="16671257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BE2DBF-A3BB-4FEB-8FDA-6547019C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0A6426-C79C-4A5B-A152-3CE44559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Two group confusion matrices can support conflicting fairness conclusions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A4E9F-DC32-4BCB-9452-6F84B168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B792D-FA6A-455E-A01E-A8D350A3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744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Group A has TPR 0.80 and FPR 0.20; Group B has TPR 0.60 and FPR 0.10.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82A58-4F17-4371-80AD-251C208E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74B85-01E5-4DB2-846F-F3E27723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Equal-opportunity gap is 0.20 in TPR.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8C9F0-B502-4FAC-9FE2-E7414F89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EE322-E83D-4E51-956F-9DD274A7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Equalized odds also considers the 0.10 FPR gap.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678F89-8626-43A5-92ED-956AB685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099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DE7E7-FAA2-47C3-9F3B-6C8B9C2C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46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Changing thresholds may reduce one gap while increasing another or reducing utility.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329C82-334F-44A7-B759-E14C4E15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AB9D6-8F78-49AB-A200-ADDD4CFE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291BD-2D58-4E02-B45F-31E06BAF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67250"/>
            <a:ext cx="695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The metric choice is normative and must be tied to harms, stakeholders, and the decision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8D812-0460-4433-8191-E876253B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21 | B6 Ch. 4-5 and 8 | B7 Ch. 6, 8, 11 | B8 Ch. 1, 3-5,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30C2F-D65B-45D4-ABC8-7642956A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F6EAA-BB88-4310-AF19-3210D1D6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15 | Explainability and Responsible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C87754-19B8-4C97-B492-41AEECE5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5/12</a:t>
            </a:r>
          </a:p>
        </p:txBody>
      </p:sp>
    </p:spTree>
    <p:extLst>
      <p:ext uri="{BB962C8B-B14F-4D97-AF65-F5344CB8AC3E}">
        <p14:creationId xmlns:p14="http://schemas.microsoft.com/office/powerpoint/2010/main" val="10178729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7B4272-0CAA-40B3-ACF3-40B76437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DESIGN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E0657-4D45-46EC-9527-F3A79FD3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Model cards make limitations part of the artifact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98705-0727-4249-A669-AA808E0B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0"/>
            <a:ext cx="112776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Document intended use, data, metrics, subgroup results, and failure cases.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Include privacy, misuse, security, and environmental constraints.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Name monitoring signals and the human escalation path.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ACC1C-34D3-40A4-805B-C795487A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67250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A068E-0D5B-4B0B-BA19-3743D6D8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BB7FC-2BC3-47B5-BED4-F7AD73D3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6144A-E607-4924-A9CE-6424955B3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Ask the stakeholder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D0A8C-893A-4D8F-B9B8-74708A1F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E4445-85B5-4297-A2B0-B399C447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8D38E-D6CA-4FCA-9956-2E5A1F0C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Run a validity or fairness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845873-65F9-4DAD-A36B-58A250A9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5529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7F0C1-4929-48DD-A303-5D72F233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719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5696D6-23B3-4F91-8A23-B5814A84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Document limits and owner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D3EE1-61E1-4227-BE79-1064B2A5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1500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 useful pattern makes the next experiment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7AB94E-3E2D-4009-87DC-425D67F2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21 | B6 Ch. 4-5 and 8 | B7 Ch. 6, 8, 11 | B8 Ch. 1, 3-5, 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6C8B28-4651-4757-A169-0B08B073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C966A-9E6A-46CF-B5B2-04DD03C2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15 | Explainability and Responsible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168F5-3EA5-4B6D-8879-978A6A74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6/12</a:t>
            </a:r>
          </a:p>
        </p:txBody>
      </p:sp>
    </p:spTree>
    <p:extLst>
      <p:ext uri="{BB962C8B-B14F-4D97-AF65-F5344CB8AC3E}">
        <p14:creationId xmlns:p14="http://schemas.microsoft.com/office/powerpoint/2010/main" val="1828789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377EAB-2466-4BC1-82E4-5888AFCC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DECISION LENS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933F5-0BEA-4A66-9423-F39171F3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Plausible explanations and faithful explanations are not the same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92AC6-75BE-4B8B-9706-9BF87BF7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1277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 visually convincing heatmap can be stable, unstable, causal, or unrelated to the model's actual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50152-B8C6-481F-91D9-84BC3F96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EE6D8-5DF5-4295-827A-5F47E51B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Plausibility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30333-DA8E-4AF2-8B9E-128AAE40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Looks reasonable to a person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May match domain expectations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Can conceal shortcut reliance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A6F74-4FA7-447C-9517-27240256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554355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B9407-E2E2-4DEE-B80B-9BE0D452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24200"/>
            <a:ext cx="4933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Faithfulness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73AE1-8D07-4458-953C-A117F64D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9339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Changes when influential evidence changes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Survives sanity and perturbation tests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• Still does not settle every ethical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386100-7517-460F-AAB4-FA2A143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21 | B6 Ch. 4-5 and 8 | B7 Ch. 6, 8, 11 | B8 Ch. 1, 3-5, 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E61D8-194C-43D4-B8CD-DF1D5F11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B5FF1-6C3E-4431-99F3-18B8B95C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15 | Explainability and Responsible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9EB82-E5EF-4F2E-8309-B0A1A09B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7/12</a:t>
            </a:r>
          </a:p>
        </p:txBody>
      </p:sp>
    </p:spTree>
    <p:extLst>
      <p:ext uri="{BB962C8B-B14F-4D97-AF65-F5344CB8AC3E}">
        <p14:creationId xmlns:p14="http://schemas.microsoft.com/office/powerpoint/2010/main" val="12228580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D0D5A3-A7B5-4694-AE90-27C0D23A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IMPLEMENTATION PATTERN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6FEF1-2A7E-4D82-B3E0-526078A6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Audit metrics by group and record their trade-offs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EEFE2-3056-4AE5-A33A-80388C16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6572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8212B"/>
          </a:solidFill>
          <a:ln xmlns:a="http://schemas.openxmlformats.org/drawingml/2006/main" w="9525">
            <a:solidFill>
              <a:srgbClr val="1821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93B06-FACC-4D2A-9732-01A7EBCC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6000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for group in groups: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    truth = y[group]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    guess = pred[group]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    report[group] = confusion_rates(truth, guess)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dp_gap = positive_rate_A - positive_rate_B</a:t>
            </a:r>
          </a:p>
          <a:p xmlns:a="http://schemas.openxmlformats.org/drawingml/2006/main">
            <a:pPr algn="l">
              <a:defRPr sz="1575" b="0">
                <a:solidFill>
                  <a:srgbClr val="EAF2F8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EAF2F8"/>
                </a:solidFill>
                <a:latin typeface="Consolas"/>
                <a:ea typeface="Consolas"/>
                <a:cs typeface="Consolas"/>
              </a:rPr>
              <a:t>model_card['subgroup_results'] = report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F83A3-707D-42E1-AF78-45120B48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050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to watch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DCC76-04C4-41A9-8535-72B1AA52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160E5-4012-4C30-A0B0-CAA638B3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47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Use simulated groups only for pedagogy.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C89CC8-2C89-43A5-8785-48DE5F89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89985-7EB6-4238-8FAB-25D9605B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004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Report uncertainty and sample size.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9DBC7-5C9B-4754-8D88-0274F3F1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72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2E6B5-7A9F-4A48-AB6D-97BED7C16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5295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Do not treat parity as proof of justice.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B0BD8-CDB4-457F-AAE8-7FFE9D68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21 | B6 Ch. 4-5 and 8 | B7 Ch. 6, 8, 11 | B8 Ch. 1, 3-5, 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C0093-F430-4B25-BFA5-564139CB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95180E-DE7A-4E0D-AA90-E52BFA58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15 | Explainability and Responsible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69FAB-C57C-4F33-8001-28DCC84E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</p:spTree>
    <p:extLst>
      <p:ext uri="{BB962C8B-B14F-4D97-AF65-F5344CB8AC3E}">
        <p14:creationId xmlns:p14="http://schemas.microsoft.com/office/powerpoint/2010/main" val="7717186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FC41D8-32A6-41DD-BCAC-E02ABC28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8FBEB-6D7C-4394-B039-CF79BE6A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Responsible-AI tools can create false reassurance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CA9EB-74D6-416A-AFCE-CFBBEDA1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49959-909A-400A-ADC3-D3BFB5CD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4EF649-AC4E-4089-A4F1-9C03AD61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Explanation theater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35A76C-D67D-4A03-8E0F-84F621B7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heatmap is shown without a faithfulness or stability test.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2B174-5F95-4D86-9B38-37AD74D2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E4B57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E07003-C509-4E8C-BA75-0B4AD1B1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A65B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65B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3C707-9571-4CD3-A71D-3076A344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Metric shopping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BC58C-0A6F-4876-A5F7-45258698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A favorable fairness definition is chosen after seeing results.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9656E-F16B-4ED2-BFC6-F571227C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09750"/>
            <a:ext cx="35052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422BB-60B9-4A3F-96E6-C35D84D9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574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921A6-944C-410E-AAD9-A15EB613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2971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Missing governance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9D4F3-B5D9-4A19-87F9-AFA17AC2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71875"/>
            <a:ext cx="29718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No owner, escalation rule, or affected-stakeholder review exists.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69972A-1FBD-45C4-9B6B-C7968834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67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Diagnose with evidence before changing the architecture.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ACE77-C9C4-488A-8E19-2E224E6D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21 | B6 Ch. 4-5 and 8 | B7 Ch. 6, 8, 11 | B8 Ch. 1, 3-5, 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59A36D-4788-42BF-BD9C-4A6F48AB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E63BF-D1FE-4448-B5BB-609E9CFC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15 | Explainability and Responsible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06A4C3-BED1-4B9E-ADF0-DA4287E6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</p:spTree>
    <p:extLst>
      <p:ext uri="{BB962C8B-B14F-4D97-AF65-F5344CB8AC3E}">
        <p14:creationId xmlns:p14="http://schemas.microsoft.com/office/powerpoint/2010/main" val="10342957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77E0C3-4E55-47C8-BBB6-D3B95B0C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ACTIVE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2B5AFB-74A1-40E8-BC1C-1A977889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evidence for a specific stakeholder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45164-B9F3-4F11-9E34-C9721A87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FF2FA"/>
          </a:solidFill>
          <a:ln xmlns:a="http://schemas.openxmlformats.org/drawingml/2006/main" w="9525">
            <a:solidFill>
              <a:srgbClr val="A5CF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FC1D3-CE4E-4331-88B1-63A05BF7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For a medical-imaging developer, clinician, patient, and regulator, choose an explanation or audit, one validity test, and one limitation statement.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29B08-AC9C-4649-B608-89646497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D3751-5D98-4D5F-B2CA-300886E5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Name the question.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B031B-FDD5-4FC4-B10C-1E7AC486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3749E-676E-420C-92E1-30595E8D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Choose the method.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E7E7F-37F8-46CC-A91B-EA9528F3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90875"/>
            <a:ext cx="590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0697D4-76CB-4085-90DA-D7EB5D57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Specify a falsification or sanity check.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6B6D2-6D00-4AAC-AF77-D9AB5EC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291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Share-out criterion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2D9F5-3525-47A4-A54F-822C01B5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The method should serve the stakeholder's decision rather than decorate the model.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22522-2F93-46B8-B41B-0D98ADFB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21 | B6 Ch. 4-5 and 8 | B7 Ch. 6, 8, 11 | B8 Ch. 1, 3-5, 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95DCC5-CF26-4E4F-ABF5-E0509FA1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C1BF5B-DEFB-4690-BCB7-1507E9A0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15 | Explainability and 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1C904-5FDE-4E6B-85DF-BECE2D0A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</p:spTree>
    <p:extLst>
      <p:ext uri="{BB962C8B-B14F-4D97-AF65-F5344CB8AC3E}">
        <p14:creationId xmlns:p14="http://schemas.microsoft.com/office/powerpoint/2010/main" val="10985337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3AF309-69F3-4C1B-8D4F-E4639964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66072-AE6E-4CA9-8649-CF62FF6D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Three ideas to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52548-2944-43B3-95CF-19A20825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77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49FF8-3845-444C-9A07-B41CEEE8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63934-65ED-43F1-9A75-903A4515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08D08-246A-42D0-99E9-D4CE6153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Explanation methods answer different questions and require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22669-7605-4BA2-A1A6-29265147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72334-7BE9-471B-A825-258AF12B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854DF-A81F-401E-A2DC-70DF78BB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Fairness metrics encode value choices and trade-offs.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FEF620-9039-4CBB-A5B0-A6E1E6A1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4860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3D9EA-93B8-4350-BCF5-6226AF25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9335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F604EF-0E56-4864-B20A-107230CF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19425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Documentation, ownership, and monitoring are technical deliverables.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D7ACB-C04A-4EC5-9300-1ACB7C1B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482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An explanation or fairness metric is useful only when it answers a stakeholder question and survives validity checks.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F6C612-7C84-4EDF-A37B-7818AB54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0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9788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97889"/>
                </a:solidFill>
                <a:latin typeface="Arial"/>
                <a:ea typeface="Arial"/>
                <a:cs typeface="Arial"/>
              </a:rPr>
              <a:t>Book grounding: B1 Ch. 21 | B6 Ch. 4-5 and 8 | B7 Ch. 6, 8, 11 | B8 Ch. 1, 3-5,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8CF914-3EC1-4266-81E7-B95168D6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BA7DB-86A0-434F-8C6E-1B0F151F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15 | Explainability and Responsible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599FE-73EB-4CAC-AEEE-870FA29D6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11/12</a:t>
            </a:r>
          </a:p>
        </p:txBody>
      </p:sp>
    </p:spTree>
    <p:extLst>
      <p:ext uri="{BB962C8B-B14F-4D97-AF65-F5344CB8AC3E}">
        <p14:creationId xmlns:p14="http://schemas.microsoft.com/office/powerpoint/2010/main" val="10771892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E7DF50-0B76-46FC-A599-5C9BD1C0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DCD45-EA4A-4A2A-90D2-B679468F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 explanation or fairness metric is useful only when it answers a stakeholder question and survives validity checks.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141A4-5236-4A4A-B683-DA3CE558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Answer before you leave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69FFE-7EA6-4BF7-95AB-F5F5045A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D7422-1C89-48AB-8F90-47E8CE51F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Why is attention not automatically an explanation?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C8BE35-90A7-4829-8D99-EC4C2BA5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7C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309C1-D70A-43DE-B993-FB5E1975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05300"/>
            <a:ext cx="485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What makes a fairness criterion defensible for a given use?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DB231-A54B-4625-B17A-0BB148FC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051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1820"/>
                </a:solidFill>
                <a:latin typeface="Arial"/>
                <a:ea typeface="Arial"/>
                <a:cs typeface="Arial"/>
              </a:rPr>
              <a:t>Book 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A31499-4D42-4447-B1E1-C18483F9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C849B-32F5-46ED-9F02-B5CDF423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29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Prince, Understanding Deep Learning (MIT Press, 2023)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9EB81-17F6-4C45-832C-C46E31D9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290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B8C49-10C7-49A8-BEF0-D4B5048C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Thampi, Interpretable AI (Manning, 2022)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CC83EF-1CAE-4F43-B7ED-D5BBA457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8152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893BA-580F-45EE-9F2F-B35CABCA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5339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Huyen, Designing Machine Learning Systems (O'Reilly Media, 2022)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417998-7951-4667-8323-89CA8A12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339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77C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77C9"/>
                </a:solidFill>
                <a:latin typeface="Arial"/>
                <a:ea typeface="Arial"/>
                <a:cs typeface="Arial"/>
              </a:rPr>
              <a:t>B8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B05E0A-4060-4077-8969-5921F10D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8635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Barocas, Hardt &amp; Narayanan, Fairness and Machine Learning (MIT Press, 2023)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5312FE-99F1-4310-BF27-E9B27476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817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CC14B-5151-46F4-834C-C2DE52C3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5795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Deep Learning | Week 15 | Explainability and Responsible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68502-A732-4C68-A889-84E6ACAD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579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12/12</a:t>
            </a:r>
          </a:p>
        </p:txBody>
      </p:sp>
    </p:spTree>
    <p:extLst>
      <p:ext uri="{BB962C8B-B14F-4D97-AF65-F5344CB8AC3E}">
        <p14:creationId xmlns:p14="http://schemas.microsoft.com/office/powerpoint/2010/main" val="3483185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2026-07-12T22:12:24.4480000Z</dcterms:created>
  <dcterms:modified xsi:type="dcterms:W3CDTF">2026-07-12T22:12:24.4480000Z</dcterms:modified>
</coreProperties>
</file>