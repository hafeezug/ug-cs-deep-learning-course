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4bf20bd498410c" /><Relationship Type="http://schemas.openxmlformats.org/officeDocument/2006/relationships/extended-properties" Target="/docProps/app.xml" Id="R1839ec825c0a40bb" /><Relationship Type="http://schemas.openxmlformats.org/officeDocument/2006/relationships/officeDocument" Target="/ppt/presentation.xml" Id="Ra60460342ac540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0c46451516435e"/>
  </p:sldMasterIdLst>
  <p:notesMasterIdLst>
    <p:notesMasterId xmlns:r="http://schemas.openxmlformats.org/officeDocument/2006/relationships" r:id="R718222b6805846fa"/>
  </p:notesMasterIdLst>
  <p:sldIdLst>
    <p:sldId xmlns:r="http://schemas.openxmlformats.org/officeDocument/2006/relationships" id="256" r:id="R8afd330a7ad74a63"/>
    <p:sldId xmlns:r="http://schemas.openxmlformats.org/officeDocument/2006/relationships" id="257" r:id="R79849f5f8f314c5e"/>
    <p:sldId xmlns:r="http://schemas.openxmlformats.org/officeDocument/2006/relationships" id="258" r:id="Rf5a2a347978646b8"/>
    <p:sldId xmlns:r="http://schemas.openxmlformats.org/officeDocument/2006/relationships" id="259" r:id="R4758ce0668c6405a"/>
    <p:sldId xmlns:r="http://schemas.openxmlformats.org/officeDocument/2006/relationships" id="260" r:id="Rf6f1955262204e68"/>
    <p:sldId xmlns:r="http://schemas.openxmlformats.org/officeDocument/2006/relationships" id="261" r:id="R56388ca3a4ec48a1"/>
    <p:sldId xmlns:r="http://schemas.openxmlformats.org/officeDocument/2006/relationships" id="262" r:id="R68c96670c5534f5e"/>
    <p:sldId xmlns:r="http://schemas.openxmlformats.org/officeDocument/2006/relationships" id="263" r:id="R370fced87a5e4dd7"/>
    <p:sldId xmlns:r="http://schemas.openxmlformats.org/officeDocument/2006/relationships" id="264" r:id="R907175e1f60645f1"/>
    <p:sldId xmlns:r="http://schemas.openxmlformats.org/officeDocument/2006/relationships" id="265" r:id="Ra81239ca654b4bd6"/>
    <p:sldId xmlns:r="http://schemas.openxmlformats.org/officeDocument/2006/relationships" id="266" r:id="R5a143fd978c749f6"/>
    <p:sldId xmlns:r="http://schemas.openxmlformats.org/officeDocument/2006/relationships" id="267" r:id="R4e686a3eb816483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a1c9f347794d70" /><Relationship Type="http://schemas.openxmlformats.org/officeDocument/2006/relationships/slideMaster" Target="/ppt/slideMasters/slideMaster1.xml" Id="R790c46451516435e" /><Relationship Type="http://schemas.openxmlformats.org/officeDocument/2006/relationships/notesMaster" Target="/ppt/notesMasters/notesMaster1.xml" Id="R718222b6805846fa" /><Relationship Type="http://schemas.openxmlformats.org/officeDocument/2006/relationships/presProps" Target="/ppt/presProps.xml" Id="R40b400709fed443e" /><Relationship Type="http://schemas.openxmlformats.org/officeDocument/2006/relationships/tableStyles" Target="/ppt/tableStyles.xml" Id="Re2862a0cc3b24295" /><Relationship Type="http://schemas.openxmlformats.org/officeDocument/2006/relationships/slide" Target="/ppt/slides/slide1.xml" Id="R8afd330a7ad74a63" /><Relationship Type="http://schemas.openxmlformats.org/officeDocument/2006/relationships/slide" Target="/ppt/slides/slide2.xml" Id="R79849f5f8f314c5e" /><Relationship Type="http://schemas.openxmlformats.org/officeDocument/2006/relationships/slide" Target="/ppt/slides/slide3.xml" Id="Rf5a2a347978646b8" /><Relationship Type="http://schemas.openxmlformats.org/officeDocument/2006/relationships/slide" Target="/ppt/slides/slide4.xml" Id="R4758ce0668c6405a" /><Relationship Type="http://schemas.openxmlformats.org/officeDocument/2006/relationships/slide" Target="/ppt/slides/slide5.xml" Id="Rf6f1955262204e68" /><Relationship Type="http://schemas.openxmlformats.org/officeDocument/2006/relationships/slide" Target="/ppt/slides/slide6.xml" Id="R56388ca3a4ec48a1" /><Relationship Type="http://schemas.openxmlformats.org/officeDocument/2006/relationships/slide" Target="/ppt/slides/slide7.xml" Id="R68c96670c5534f5e" /><Relationship Type="http://schemas.openxmlformats.org/officeDocument/2006/relationships/slide" Target="/ppt/slides/slide8.xml" Id="R370fced87a5e4dd7" /><Relationship Type="http://schemas.openxmlformats.org/officeDocument/2006/relationships/slide" Target="/ppt/slides/slide9.xml" Id="R907175e1f60645f1" /><Relationship Type="http://schemas.openxmlformats.org/officeDocument/2006/relationships/slide" Target="/ppt/slides/slide10.xml" Id="Ra81239ca654b4bd6" /><Relationship Type="http://schemas.openxmlformats.org/officeDocument/2006/relationships/slide" Target="/ppt/slides/slide11.xml" Id="R5a143fd978c749f6" /><Relationship Type="http://schemas.openxmlformats.org/officeDocument/2006/relationships/slide" Target="/ppt/slides/slide12.xml" Id="R4e686a3eb81648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09a40fb91540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d7a0016f2b4f7c" /><Relationship Type="http://schemas.openxmlformats.org/officeDocument/2006/relationships/notesMaster" Target="/ppt/notesMasters/notesMaster1.xml" Id="R64b9a96337a441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eeb3c968b142e9" /><Relationship Type="http://schemas.openxmlformats.org/officeDocument/2006/relationships/notesMaster" Target="/ppt/notesMasters/notesMaster1.xml" Id="R5779246853db4e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ae911d6cd74eae" /><Relationship Type="http://schemas.openxmlformats.org/officeDocument/2006/relationships/notesMaster" Target="/ppt/notesMasters/notesMaster1.xml" Id="Re0324f3bd4db42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50352ed64945a1" /><Relationship Type="http://schemas.openxmlformats.org/officeDocument/2006/relationships/notesMaster" Target="/ppt/notesMasters/notesMaster1.xml" Id="Rd4693f7ed36742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3df44a459b433b" /><Relationship Type="http://schemas.openxmlformats.org/officeDocument/2006/relationships/notesMaster" Target="/ppt/notesMasters/notesMaster1.xml" Id="R0d860b11962842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f6ad220ed04e87" /><Relationship Type="http://schemas.openxmlformats.org/officeDocument/2006/relationships/notesMaster" Target="/ppt/notesMasters/notesMaster1.xml" Id="R89d74026d21444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3904f8c72d4d28" /><Relationship Type="http://schemas.openxmlformats.org/officeDocument/2006/relationships/notesMaster" Target="/ppt/notesMasters/notesMaster1.xml" Id="R01e2bd4cb25042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be7927b1e04d2f" /><Relationship Type="http://schemas.openxmlformats.org/officeDocument/2006/relationships/notesMaster" Target="/ppt/notesMasters/notesMaster1.xml" Id="Ra59ecd652c564a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363acff49a4fa2" /><Relationship Type="http://schemas.openxmlformats.org/officeDocument/2006/relationships/notesMaster" Target="/ppt/notesMasters/notesMaster1.xml" Id="R3bd3b59faa1047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0e10574600f4213" /><Relationship Type="http://schemas.openxmlformats.org/officeDocument/2006/relationships/notesMaster" Target="/ppt/notesMasters/notesMaster1.xml" Id="R82e4bfe39c12460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efb51d12a604bd3" /><Relationship Type="http://schemas.openxmlformats.org/officeDocument/2006/relationships/notesMaster" Target="/ppt/notesMasters/notesMaster1.xml" Id="R8f5971cc19a94e0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e3a15e59154d02" /><Relationship Type="http://schemas.openxmlformats.org/officeDocument/2006/relationships/notesMaster" Target="/ppt/notesMasters/notesMaster1.xml" Id="R41b5e9fd7f144e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</a:t>
            </a:r>
          </a:p>
          <a:p xmlns:a="http://schemas.openxmlformats.org/drawingml/2006/main">
            <a:r>
              <a:t>Teaching moves: Open with the course question and ask students where they have already encountered this model family.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Teaching moves: Preview the conceptual arc. Ask students to choose which outcome feels least secure and revisit that choice at the exit ticket.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 minutes.</a:t>
            </a:r>
          </a:p>
          <a:p xmlns:a="http://schemas.openxmlformats.org/drawingml/2006/main">
            <a:r>
              <a:t>Teaching moves: Build the diagram left to right. Pause after each transition and ask what information is created, lost, or constrained.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15 minutes.</a:t>
            </a:r>
          </a:p>
          <a:p xmlns:a="http://schemas.openxmlformats.org/drawingml/2006/main">
            <a:r>
              <a:t>Teaching moves: Explain the core idea, then ask students to connect each bullet to a visible part of the diagram.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15 minutes.</a:t>
            </a:r>
          </a:p>
          <a:p xmlns:a="http://schemas.openxmlformats.org/drawingml/2006/main">
            <a:r>
              <a:t>Teaching moves: Have students predict the result before revealing each step. Work the arithmetic or shape trace on the board.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</a:t>
            </a:r>
          </a:p>
          <a:p xmlns:a="http://schemas.openxmlformats.org/drawingml/2006/main">
            <a:r>
              <a:t>Teaching moves: Use the three-stage sequence to summarize the first half. Ask one student to restate the pattern in their own words.</a:t>
            </a:r>
          </a:p>
          <a:p xmlns:a="http://schemas.openxmlformats.org/drawingml/2006/main">
            <a:r>
              <a:t>After this slide, take a 10-minute break before continuing.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</a:t>
            </a:r>
          </a:p>
          <a:p xmlns:a="http://schemas.openxmlformats.org/drawingml/2006/main">
            <a:r>
              <a:t>Teaching moves: Compare the two choices through one concrete task. Ask which assumption would make the recommendation reverse.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</a:t>
            </a:r>
          </a:p>
          <a:p xmlns:a="http://schemas.openxmlformats.org/drawingml/2006/main">
            <a:r>
              <a:t>Teaching moves: Read the code as a sequence of invariants. Ask students to identify the line where a shape, graph, or data leak error would surface.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Teaching moves: Invite students to name one observable signature for each failure. Separate symptoms from root causes.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Teaching moves: Run the activity exactly as shown. Ask for reasoning and assumptions, not just an architecture name or numeric answer.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</a:t>
            </a:r>
          </a:p>
          <a:p xmlns:a="http://schemas.openxmlformats.org/drawingml/2006/main">
            <a:r>
              <a:t>Teaching moves: Ask students to explain the three takeaways without looking at the prior slides. Correct connections, not isolated wording.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Teaching moves: Collect a one-minute written response. Close by naming the bridge to the next lecture.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58615498974b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2aa4942d0940ba" /><Relationship Type="http://schemas.openxmlformats.org/officeDocument/2006/relationships/slideLayout" Target="/ppt/slideLayouts/slideLayout1.xml" Id="R04dcc47e510f48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dcc47e510f48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01960804b04cb0" /><Relationship Type="http://schemas.openxmlformats.org/officeDocument/2006/relationships/notesSlide" Target="/ppt/notesSlides/notesSlide1.xml" Id="R6e1fd6a48a854e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a53b51d664c15" /><Relationship Type="http://schemas.openxmlformats.org/officeDocument/2006/relationships/notesSlide" Target="/ppt/notesSlides/notesSlide2.xml" Id="R5282739782bf40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1822a5afd428f" /><Relationship Type="http://schemas.openxmlformats.org/officeDocument/2006/relationships/notesSlide" Target="/ppt/notesSlides/notesSlide3.xml" Id="Rcdef3693d4c24d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a98590954f4b0e" /><Relationship Type="http://schemas.openxmlformats.org/officeDocument/2006/relationships/notesSlide" Target="/ppt/notesSlides/notesSlide4.xml" Id="R0eaf3787c3054c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442bfb9984841" /><Relationship Type="http://schemas.openxmlformats.org/officeDocument/2006/relationships/notesSlide" Target="/ppt/notesSlides/notesSlide5.xml" Id="R09e068a186474a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fb8b6115c4a0f" /><Relationship Type="http://schemas.openxmlformats.org/officeDocument/2006/relationships/notesSlide" Target="/ppt/notesSlides/notesSlide6.xml" Id="R38474d4731ed41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3d317f29e44737" /><Relationship Type="http://schemas.openxmlformats.org/officeDocument/2006/relationships/notesSlide" Target="/ppt/notesSlides/notesSlide7.xml" Id="Ra2b2a579c5d340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917f3930ea438f" /><Relationship Type="http://schemas.openxmlformats.org/officeDocument/2006/relationships/notesSlide" Target="/ppt/notesSlides/notesSlide8.xml" Id="Ra405ed449e8c4e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87d16df794a28" /><Relationship Type="http://schemas.openxmlformats.org/officeDocument/2006/relationships/notesSlide" Target="/ppt/notesSlides/notesSlide9.xml" Id="R37438f1c7c9d476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04dd52e1b943a5" /><Relationship Type="http://schemas.openxmlformats.org/officeDocument/2006/relationships/notesSlide" Target="/ppt/notesSlides/notesSlide10.xml" Id="R53ca87196857440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e600214d741de" /><Relationship Type="http://schemas.openxmlformats.org/officeDocument/2006/relationships/notesSlide" Target="/ppt/notesSlides/notesSlide11.xml" Id="Rd5b4dda1adc0405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9a18f79264dac" /><Relationship Type="http://schemas.openxmlformats.org/officeDocument/2006/relationships/notesSlide" Target="/ppt/notesSlides/notesSlide12.xml" Id="R26b5f39b756845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4B3F8B-6178-4F1F-B5C7-111BC813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DEEP LEARNING | WEEK 1 | TWO-HOUR LECTURE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0D2F98-6298-49A3-B429-2C9AD6F8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5619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Deep Learning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AAEE97-0FB8-4ED8-9B38-0480D8E9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54768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turns raw data into useful representations inside a repeatable data-model-loss-evaluation loop.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843952-B566-4F3E-BEFD-0317E814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52450"/>
            <a:ext cx="5305425" cy="5219700"/>
          </a:xfrm>
          <a:prstGeom xmlns:a="http://schemas.openxmlformats.org/drawingml/2006/main" prst="roundRect">
            <a:avLst>
              <a:gd name="adj" fmla="val 219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028C78-E704-4653-952E-C0901DF5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097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985314-92E0-469D-9C22-5F632013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838325"/>
            <a:ext cx="1833563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C5AFE8-9215-4D0E-BF50-588B2B07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0097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1E9BBC-5C00-4D06-80B4-8C1D7DE4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488" y="1838325"/>
            <a:ext cx="1833563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4FFC5F-C94B-4C96-B596-E426C44D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051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665C1F-7908-476C-A454-F992ADB8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733675"/>
            <a:ext cx="1833563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1794A7-EEC0-40AE-8D0F-A2F91D88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9051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DF77B1-31CD-4028-B964-BD79BBF8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488" y="2733675"/>
            <a:ext cx="1833563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Loss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319BDA-B79D-49E9-91FE-E6ACB81B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8004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B6F3D6-0834-4A57-ADCB-616FDBFF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629025"/>
            <a:ext cx="1833563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Update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0F17A0-7700-4A85-823A-D9B82FF4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8004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E64F57-224F-477D-841D-9713BF1C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488" y="3629025"/>
            <a:ext cx="1833563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AB68FE-CB97-4296-8103-18FBE1D0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314950"/>
            <a:ext cx="4733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Original diagram based on the cited books.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972183-7599-47D3-B92A-A991131B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1-2 | B2 Ch. 1-5 selective | B3 Ch. 1-2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DB2FFF-EA51-4F5E-9518-7D954EF8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439443-0CB7-44DF-8BD4-F1D09D93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 | Deep Learning Workflow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8D1E40-12A2-4C9C-82BD-2CD813C8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1/12</a:t>
            </a:r>
          </a:p>
        </p:txBody>
      </p:sp>
    </p:spTree>
    <p:extLst>
      <p:ext uri="{BB962C8B-B14F-4D97-AF65-F5344CB8AC3E}">
        <p14:creationId xmlns:p14="http://schemas.microsoft.com/office/powerpoint/2010/main" val="2194378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58670F-939A-44FB-AF68-CFE92D99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LEARNING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59668C-9D62-4E97-967D-4F648077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this lecture enables you to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DE6583-9E53-4261-B710-B0A7B028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51B38-7A15-448F-ACC8-E41B96D9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Distinguish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E09D83-36B5-49C2-AA61-40C287ED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716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Distinguish AI, machine learning, and deep learning.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BB6131-E2A3-401F-8FF6-2A8D3B40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1935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798A9-C6FC-41D5-A56A-801DD6AA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EA93D9-5AEB-45B1-9ECF-C8F1F1E3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955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Trace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5DAF2-9ABB-4D33-A05D-D4EEB391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Trace data through a model, loss, update, and evaluation.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70101-D947-44E1-8A21-857F0A34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CDBF2D-6949-4E86-9327-07AA176A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E6EC0A-5012-4A78-930F-89800A79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623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Set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5015A0-4195-491E-AB3B-C8DC5592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Set up reproducible tensor experiments and choose meaningful metrics.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D507CE-D456-4E62-AE1D-70BA1BF5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D2EE45-6968-45F1-A198-7293A24B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09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Learning path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FEB3B8-95B7-4621-8520-8A8A0FA9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24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D93E92-C30B-4C04-BD83-4CA27D0A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240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 model is one component of an experimental system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B325E8-F345-4FE0-8AF7-5A62E2CE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336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25E210-61DA-4D3A-9E9D-FFC9180C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336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Depth matters because layers can reuse earlier features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575587-B01C-4EDB-94AA-0A17F0F4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A7BD83-CBFF-4E23-AC9B-A6A52A0E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432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Pixels become a decision through logits and cross-entropy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D5F3E0-94B8-4CC4-AE4E-E65B1F1D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528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BE2506-988F-4829-B943-09143409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528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Problem framing determines whether deep learning is justified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E87B05-ECAD-4057-9976-0E7A5C89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624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5A0FA3-56C0-44CB-89F4-C37DA888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3624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Handcrafted features and learned features fail in different ways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3F53FE-4615-43D1-8020-7805E099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72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E730E2-61CF-4A91-8C83-7E5AC60B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720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Frame the task before choosing the network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601964-EBEA-4CD1-AB6D-2470950B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1-2 | B2 Ch. 1-5 selective | B3 Ch. 1-2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C093A2-75A9-4707-A19F-53B0657E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E8396A-8FC6-4519-A7B2-68A88092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 | Deep Learning Workflow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5B41EA-0198-4C96-B77F-679A3CF2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2/12</a:t>
            </a:r>
          </a:p>
        </p:txBody>
      </p:sp>
    </p:spTree>
    <p:extLst>
      <p:ext uri="{BB962C8B-B14F-4D97-AF65-F5344CB8AC3E}">
        <p14:creationId xmlns:p14="http://schemas.microsoft.com/office/powerpoint/2010/main" val="7037929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DDA773-AD57-49FB-8E3F-B0A9F748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MENTAL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25BB2-4C5E-45E6-BDB9-A6526542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 model is one component of an experimental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5C5B68-2C14-4E62-86CB-D0DEE1C9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1E001-44B6-4564-A2DD-2A68326A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23850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4E9A5-2874-45A4-8C49-24CE7E3A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23850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7C79B-FE96-47A2-B21C-57CECC86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23850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02CAE2-BBBC-46E6-B3B7-C8F1991F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23850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F0A69E-67CD-4D97-84A3-42502176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3850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83E7F7-DE69-46D6-A06C-DFD0361B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895600"/>
            <a:ext cx="14668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CFFE62-8B65-46F7-BEE1-AC88EE7D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895600"/>
            <a:ext cx="14668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AC9EDB-EC4F-42B4-8A61-B02DDC51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95600"/>
            <a:ext cx="14668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85690D-C8DA-498D-B83B-69F8E014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895600"/>
            <a:ext cx="14668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Loss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F56568-1DB1-4A9A-B7BF-FBCF7259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895600"/>
            <a:ext cx="14668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A31ABE-C716-44B7-A943-3E6AC608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895600"/>
            <a:ext cx="14668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FD7572-50A5-45FB-8A53-09573F64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95800"/>
            <a:ext cx="1019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The learning loop is only valid when the problem, split, metric, and reproducibility controls are explicit.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FEB954-DBE7-4854-BAF1-74AC9F91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245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Use this diagram as the organizing map for the rest of the lecture.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FFC31D-56AD-4AF2-8AA4-71C35350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1-2 | B2 Ch. 1-5 selective | B3 Ch. 1-2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C8899B-8CF9-461B-AA23-958D696B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720B60-BD21-47DD-99A0-3F23DA33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 | Deep Learning Workflow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535581-71F0-46B2-A640-EA3AA916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3/12</a:t>
            </a:r>
          </a:p>
        </p:txBody>
      </p:sp>
    </p:spTree>
    <p:extLst>
      <p:ext uri="{BB962C8B-B14F-4D97-AF65-F5344CB8AC3E}">
        <p14:creationId xmlns:p14="http://schemas.microsoft.com/office/powerpoint/2010/main" val="19237428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F96210-D77C-4CFB-BDCE-F678EA8B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CORE CONCEPT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E337C-1A1A-41AA-9D21-EC59A15F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Depth matters because layers can reuse earlier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0B4722-49CD-4F0E-B0D8-2361566B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5048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Each layer transforms a representation, not merely the final answer.</a:t>
            </a:r>
          </a:p>
          <a:p xmlns:a="http://schemas.openxmlformats.org/drawingml/2006/main">
            <a:pPr algn="l">
              <a:defRPr sz="1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Early features are usually local or simple; later features combine them.</a:t>
            </a:r>
          </a:p>
          <a:p xmlns:a="http://schemas.openxmlformats.org/drawingml/2006/main">
            <a:pPr algn="l">
              <a:defRPr sz="1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The useful representation depends on the task and learning signal.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88F0BB-7899-47D6-A630-9C3ABFBB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809750"/>
            <a:ext cx="5781675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B4DF58-7A0D-40FD-B21A-1988DAA1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53225" y="2505075"/>
            <a:ext cx="1279525" cy="2143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444DDE-AB57-4762-9928-BF137FBA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719388"/>
            <a:ext cx="1279525" cy="2143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0BDE57-89DA-4315-82A2-0D68316C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719388"/>
            <a:ext cx="1279525" cy="6429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8F1269-E750-4D59-AFD6-FD6641B0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719388"/>
            <a:ext cx="1279525" cy="10715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820294-4179-4AF9-936A-0A788CA8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719388"/>
            <a:ext cx="1279525" cy="15001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ED9842-2145-4620-B498-B329CEEC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53225" y="2505075"/>
            <a:ext cx="1279525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6D89BB-7D9F-4D59-B159-F3E87FCF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53225" y="2933700"/>
            <a:ext cx="1279525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AA7234-119E-45EC-8A40-AF5366B0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362325"/>
            <a:ext cx="127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170C19-AAF8-4A2A-B0A5-6FDE2E14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362325"/>
            <a:ext cx="1279525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F4C344-843E-42A2-BAC3-5B84FC80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362325"/>
            <a:ext cx="1279525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4F62F1-984F-4A42-A04D-2F041AB4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53225" y="2505075"/>
            <a:ext cx="1279525" cy="15001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8BD605-1318-4CAF-BB82-FFF10858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53225" y="2933700"/>
            <a:ext cx="1279525" cy="10715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AC6F28-0CAB-4C52-A1B9-20907158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53225" y="3362325"/>
            <a:ext cx="1279525" cy="6429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D74917-4061-4314-B75C-5ACC563B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53225" y="3790950"/>
            <a:ext cx="1279525" cy="2143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8ACCD4-0AA6-4FA9-AEB3-1D5AFF12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005263"/>
            <a:ext cx="1279525" cy="2143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E3B90D-FE6D-4A4A-A01F-6302C4D5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505075"/>
            <a:ext cx="1279525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C3A3C3-9EF1-43BC-B2E4-763566F7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505075"/>
            <a:ext cx="1279525" cy="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A9BF28-0104-42A8-903D-66035522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505075"/>
            <a:ext cx="1279525" cy="1114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DBADE7-2C04-4C95-8013-D2C585D0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505075"/>
            <a:ext cx="1279525" cy="1628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BA8686-CA58-46E0-A964-78635071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204200" y="2590800"/>
            <a:ext cx="1279525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1ECF2E-01C4-40A0-8BE5-0A045AD0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933700"/>
            <a:ext cx="1279525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27D9FE-FD1B-4B10-9AEA-40A269E9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933700"/>
            <a:ext cx="1279525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029974-9C22-48E0-9F5D-9054FB74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933700"/>
            <a:ext cx="1279525" cy="1200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F62AD9-A34D-4C8E-810D-5D966A7D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204200" y="2590800"/>
            <a:ext cx="1279525" cy="771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48D548-88D5-4853-A5A7-9AE78B44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204200" y="3105150"/>
            <a:ext cx="1279525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400D94-31E5-43A9-8DB1-C9EE82E5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362325"/>
            <a:ext cx="1279525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1E5051-6415-42BB-86D9-239813A1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362325"/>
            <a:ext cx="1279525" cy="771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211D1D-097A-435D-9388-B6AD5965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204200" y="2590800"/>
            <a:ext cx="1279525" cy="1200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94D337-FA6E-4CB2-A5E5-EA42813D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204200" y="3105150"/>
            <a:ext cx="1279525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C0AED0-B01F-4AEE-BBF1-6CFC10F2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204200" y="3619500"/>
            <a:ext cx="1279525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C0E75E-F266-4991-9B80-C439457D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790950"/>
            <a:ext cx="1279525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17DB3B-D171-4115-AD9A-037F7E2A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204200" y="2590800"/>
            <a:ext cx="1279525" cy="1628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010C4E-F773-420D-BD60-C9A0BD00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204200" y="3105150"/>
            <a:ext cx="1279525" cy="1114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CB883C-8D19-4422-A889-80E2F0AB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204200" y="3619500"/>
            <a:ext cx="1279525" cy="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957B14-66DC-4144-8685-A499B743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204200" y="4133850"/>
            <a:ext cx="1279525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FC9E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4857D5-7F28-48CD-8ED3-57D55611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5175" y="2590800"/>
            <a:ext cx="1279525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241A438-F8DA-4E95-8A22-6D93B6C0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5175" y="2590800"/>
            <a:ext cx="1279525" cy="1200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266E263-BA1C-466F-8DC4-ECEDA150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655175" y="2933700"/>
            <a:ext cx="1279525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8EB35D9-391C-44CB-8301-F72812B9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5175" y="3105150"/>
            <a:ext cx="1279525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B33E196-68CA-4DBD-B5DF-C92DE2CB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655175" y="2933700"/>
            <a:ext cx="1279525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76855E1-58C2-4932-BBBC-3D55AD09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5175" y="3619500"/>
            <a:ext cx="1279525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44C9957-A7CA-40BA-A0DA-9A8B42EB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655175" y="2933700"/>
            <a:ext cx="1279525" cy="1200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ADFBFD-E22A-456E-A2AD-459A7155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655175" y="3790950"/>
            <a:ext cx="1279525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D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96D7C0C-F40F-4B85-96D7-F2696AD5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633663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629EB89-923F-4065-94D7-FF312FB2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276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038937C-32AC-4CEF-AEFF-2638A2CE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919538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EF7889E-CCD8-43B7-9416-D9F4347F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750" y="2419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75FAD6E-917C-4B72-B248-4814171C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750" y="2847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3E200D9-F3DE-4225-BFAA-60D17157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750" y="3276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94E5ED2-835B-4744-9145-3B800EBC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750" y="37052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D104E28-B990-4CFA-87FF-40F1FC44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750" y="4133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FB939AD-41FD-4759-9512-C24F7F35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725" y="2505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B6D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B3B322D-2816-4463-8705-D0005E39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725" y="3019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B6D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6ACB61D-2BFB-40BA-8B29-2457E826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725" y="3533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B6D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0F63749-EA6A-4512-B9BA-73A7A8B5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725" y="4048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B6D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C889F0E-D580-4DC5-8FE8-D5E59E40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847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E32A843-C860-402E-9169-73C2C177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7052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2CBC396-A9FC-4C2B-A216-294B6EF9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4005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4C8119C-B4A8-4372-A421-55A8046E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600" y="44005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Hidden 1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C9E8067-CDDA-47AA-AAC1-2BB27604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5575" y="44005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Hidden 2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F2FD7B3-AEBB-4570-9998-D27FA07F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005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EE501EB-D29D-419C-A9DE-42132B62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14875"/>
            <a:ext cx="5114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Deep learning turns raw data into useful representations inside a repeatable data-model-loss-evaluation loop.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A375A5C-A6E5-49A0-8964-0F274C27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1-2 | B2 Ch. 1-5 selective | B3 Ch. 1-2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AC069C4-A3EB-4C81-8464-AAA3858E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936461C-B57F-4C56-88C4-C4649E7D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 | Deep Learning Workflow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7382765-782C-4EA9-B614-69C29E2C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4/12</a:t>
            </a:r>
          </a:p>
        </p:txBody>
      </p:sp>
    </p:spTree>
    <p:extLst>
      <p:ext uri="{BB962C8B-B14F-4D97-AF65-F5344CB8AC3E}">
        <p14:creationId xmlns:p14="http://schemas.microsoft.com/office/powerpoint/2010/main" val="17057240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34A309-EC3A-41D3-94F9-1171FB09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DAA5B-D7A8-4D53-A7B8-5EE8A043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Pixels become a decision through logits and cross-entropy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A77F9F-4C8D-400D-ADED-8E5D0BC4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A5CF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9F8F28-70D0-4819-B222-A9639CE4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 three-class image model emits logits [2.0, 1.0, 0.0]. What does the loss reward?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7911A9-FAD8-4B8D-A6DF-4A845DD8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7439C-6BD3-495D-94B6-D252B2EF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146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Softmax converts relative scores into probabilities.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32EBE0-73AA-4189-883E-F9F942A2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009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E4B217-C7BC-46A2-B589-F37E3197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9146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target class selects one log probability.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0E7E30-FB9E-469B-A781-6183E0BE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09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00C452-90E5-4FB9-B5E9-74F0B1AC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146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Cross-entropy penalizes confident mass on the wrong class.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8E4302-BD8E-48C3-8719-EC2D7D17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24375"/>
            <a:ext cx="8763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E7E05-8271-43AA-BDD1-407E4DB9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625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D49A7F-E5C0-4F66-B160-D5F972F1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67250"/>
            <a:ext cx="695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For the second class (zero-indexed class 1), p is about 0.245 and loss is about 1.41. Raising its logit lowers the loss.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953198-7936-4884-82B5-A26D3649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1-2 | B2 Ch. 1-5 selective | B3 Ch. 1-2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2AFD4A-5D99-4B77-B94D-90CFA772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9E3A7A-D190-41EE-ABC1-FFCF7EED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 | Deep Learning Workflow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062A5E-5326-4F09-A6F4-A97DCADB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5/12</a:t>
            </a:r>
          </a:p>
        </p:txBody>
      </p:sp>
    </p:spTree>
    <p:extLst>
      <p:ext uri="{BB962C8B-B14F-4D97-AF65-F5344CB8AC3E}">
        <p14:creationId xmlns:p14="http://schemas.microsoft.com/office/powerpoint/2010/main" val="13375100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4AD4D3-C212-455A-AB13-D5468B3A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DESIGN PATTERN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40D8A1-76D7-4E9E-85F1-03499204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Problem framing determines whether deep learning is justified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5F0941-D0B5-444D-92DA-12548D9C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0"/>
            <a:ext cx="11277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Inputs, targets, constraints, and evaluation must be observable.</a:t>
            </a:r>
          </a:p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A simple baseline reveals whether model complexity adds value.</a:t>
            </a:r>
          </a:p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Data scale, compute, latency, and harm change the design choice.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A2CE50-89B3-4FBF-86E6-C336A3B5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6725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DD6631-8A0E-44B4-AAF7-837CC577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6EB0EE-8EEB-47CF-ADDC-0A80F38C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A1BE4E-8B2D-41FD-B015-1583ECD2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00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Frame the decision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0E7AF6-60EC-4E71-92B7-C0106A70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E75278-1B7B-4395-A3F1-6C835A01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85A690-338E-416D-8CE2-3354682C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000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Build a 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D5F9A5-B7C7-46F0-AADB-5DC8C8B2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CFDDB1-AA57-45E8-AFA7-792494FB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25F804-317D-4B15-8C47-BD384AB9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00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Define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651AAB-C5E9-4431-B7C3-B8C51475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150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 useful pattern makes the next experiment explicit.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4E35EC-6663-46C8-B55B-A3C738CD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1-2 | B2 Ch. 1-5 selective | B3 Ch. 1-2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843E6C-1026-4B21-9E6A-671BA18A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E06816-612A-4238-82BE-B83D0F5D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 | Deep Learning Workflow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897E76-C388-488E-B5F0-382C18D3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6/12</a:t>
            </a:r>
          </a:p>
        </p:txBody>
      </p:sp>
    </p:spTree>
    <p:extLst>
      <p:ext uri="{BB962C8B-B14F-4D97-AF65-F5344CB8AC3E}">
        <p14:creationId xmlns:p14="http://schemas.microsoft.com/office/powerpoint/2010/main" val="14512171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E9F709-79DF-4F41-90AB-521ACCAD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DECISION 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466F36-66EA-4558-AA95-86865C24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Handcrafted features and learned features fail in different ways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28F81-B5B0-45D8-A1E5-F54DC6E2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reduces manual feature design, but shifts risk toward data quality, compute, and opaque shortcuts.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85FF4A-6A08-48DD-B4A9-E31E7135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55435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9F4F9C-325D-4025-AA77-6D819587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Handcrafted pipeline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B850C3-AC65-45D2-81F3-8DFED5C9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4933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Expert defines features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Often efficient on small data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Brittle when the domain changes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9B2CAB-9FF0-4918-9BE9-7F18555F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38450"/>
            <a:ext cx="55435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A5CF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DDDDAA-0767-43AC-B16A-8CBE8859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24200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Representation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A4F17-0D06-46D7-8F24-5C8479AF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62375"/>
            <a:ext cx="4933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Model learns features jointly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Scales with data and compute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Can exploit unintended correlations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33EED9-EE49-4394-B117-EB7D89B9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1-2 | B2 Ch. 1-5 selective | B3 Ch. 1-2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E5A7A0-1D4F-49ED-8745-A32DA0C1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EE3BE2-59FA-400F-B8D4-EB55014A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 | Deep Learning Workflow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659ED2-19D8-4B3B-9B19-8AC39863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7/12</a:t>
            </a:r>
          </a:p>
        </p:txBody>
      </p:sp>
    </p:spTree>
    <p:extLst>
      <p:ext uri="{BB962C8B-B14F-4D97-AF65-F5344CB8AC3E}">
        <p14:creationId xmlns:p14="http://schemas.microsoft.com/office/powerpoint/2010/main" val="14348174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B50FC0-F4CA-441E-B0D1-52D8B30F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IMPLEMENTATION PATTERN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2AF811-C0DB-480C-888B-98C63170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smallest complete training step exposes the full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86B3A6-0AD3-4AA0-A37F-FBB9FB48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657225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18212B"/>
          </a:solidFill>
          <a:ln xmlns:a="http://schemas.openxmlformats.org/drawingml/2006/main" w="9525">
            <a:solidFill>
              <a:srgbClr val="18212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E3350-C47D-4A6C-B87B-DF1297D3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6000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optimizer.zero_grad()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prediction = model(x)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loss = criterion(prediction, y)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loss.backward()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optimizer.step()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BC2940-B6CF-4C80-AB37-8A51C5B5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050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to watch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A335C-E8F1-4AA2-B7EF-2D05AA55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7CBBA5-06BD-4EF8-A513-40B0024D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479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Match input and target shapes.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E8AA8F-4D5B-4B5A-A48F-50ECBB54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6765A1-2EEA-4A5C-A179-65370CBF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004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Separate training from evaluation.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F3C2F1-8D60-4096-A7B1-7ED377ED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72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A3A4E1-5A31-4854-9EC1-55987B15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5529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Record seeds, splits, and metrics.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80270E-BF12-43A1-9762-F3B438C0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1-2 | B2 Ch. 1-5 selective | B3 Ch. 1-2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15C5AA-0594-4E9E-B10F-61FCC099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ED7E17-6AFE-4AB8-9371-175550AE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 | Deep Learning Workflow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59022A-8D9A-485E-985A-C5E8CBEE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8/12</a:t>
            </a:r>
          </a:p>
        </p:txBody>
      </p:sp>
    </p:spTree>
    <p:extLst>
      <p:ext uri="{BB962C8B-B14F-4D97-AF65-F5344CB8AC3E}">
        <p14:creationId xmlns:p14="http://schemas.microsoft.com/office/powerpoint/2010/main" val="20365928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E4682C-A54A-455B-BC55-E8FA51FD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FAILURE MODES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109F6C-EB9D-4761-A768-AB93BB74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Most first failures are experimental, not architectural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A967A3-BB7B-43F5-9939-A8CE0053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505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A966C6-E3E6-43C9-9A6A-5FEC0AB8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BE5761-9632-46C8-8A71-9C8CEC00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Leakage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1C3151-AD89-4D63-9C76-5E71F0C7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Validation information enters preprocessing or training.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3E21BD-F909-4B40-91DC-A1D0B6F4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09750"/>
            <a:ext cx="3505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E4B5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FD2B7D-7391-41B3-8B2F-7BC10DAE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65B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65B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8E44BE-1B3C-4949-BD4E-4A846AFB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717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Metric mismatch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A5BCCC-CDB4-44A6-B655-84ED5FAE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718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optimized or reported number does not reflect the real decision.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B18BD5-E6A7-4802-A2DD-E71B5F66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09750"/>
            <a:ext cx="3505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FFDC0F-7918-4405-811E-497B0929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80D54-0B4C-4004-83E9-46C00CD4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717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Irreproducibility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57D4E3-4EEE-4052-A587-51020EE2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718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Seeds, data splits, versions, or configuration are missing.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04EF2E-0298-472D-BBDE-E0F6D75E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667375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Diagnose with evidence before changing the architecture.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0608D3-945C-4039-B847-69AEC0C0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1-2 | B2 Ch. 1-5 selective | B3 Ch. 1-2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465DEF-8449-4DEA-8B22-03B9FDBB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7745F9-9FE4-40AB-9AE8-F2EDFDD6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 | Deep Learning Workflow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4652D5-B4BB-49A5-91C7-3C0C7C24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9/12</a:t>
            </a:r>
          </a:p>
        </p:txBody>
      </p:sp>
    </p:spTree>
    <p:extLst>
      <p:ext uri="{BB962C8B-B14F-4D97-AF65-F5344CB8AC3E}">
        <p14:creationId xmlns:p14="http://schemas.microsoft.com/office/powerpoint/2010/main" val="3410899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17B202-E164-41F0-B376-21E133FC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ACTIVE 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7304BA-49FE-4BAF-861F-D8FBF7CA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Frame the task before choosing the network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25E800-4533-4EEE-8F65-F945674C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A5CF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A27A96-A2E6-418F-A009-B07BE224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For crop disease detection, energy forecasting, and Urdu text classification, define input, output, learning signal, baseline, and primary metric.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F55033-C8C5-4A97-9F16-36FA29EB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908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683829-7D50-4242-A99D-5061DAB7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Work individually for 3 minutes.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BCC7F2-BEF2-41DE-B699-3787EB68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1908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DFE8A7-79FA-48E6-AC9D-8943EE4B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6195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Compare assumptions with a partner.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952DE7-F043-4A53-8254-5C85D6A8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908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041DF2-536A-404C-9ABB-905DC0ED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195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Defend one metric and one non-model risk.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6D0925-05E1-4237-90D5-332D2756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291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Share-out criterion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03705B-170F-4A2B-B0B3-64F2AF25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6250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 strong answer names the decision context and a baseline before naming an architecture.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6D2BE6-0868-44A8-AE5B-1624D933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1-2 | B2 Ch. 1-5 selective | B3 Ch. 1-2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E1DCEA-AD00-4437-BE80-95B193AE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7CCFB6-9287-4E52-A6C6-1DC5FFFE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 | Deep Learning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52484F-826E-4C4A-9523-C35C357C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10/12</a:t>
            </a:r>
          </a:p>
        </p:txBody>
      </p:sp>
    </p:spTree>
    <p:extLst>
      <p:ext uri="{BB962C8B-B14F-4D97-AF65-F5344CB8AC3E}">
        <p14:creationId xmlns:p14="http://schemas.microsoft.com/office/powerpoint/2010/main" val="15588608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078061-AA47-4B53-86A8-CAB565E5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SYNTHESIS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13B385-7ECF-4B8F-9D21-ECB29B3B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Three ideas to carry forward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0F821A-2F05-428D-9503-4ACEF980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1937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372B40-6080-4931-9F97-401B53CC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486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850F46-BC54-400C-8787-5AFBC0F7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33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CC78A-A955-418C-91E4-8A8F78BD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0194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Representation learning composes features across layers.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B10D1-FA41-435F-A84B-6F37D344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86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850C7A-93D3-49EA-9171-7828564D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33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0DAEC2-716A-4974-9759-04B56621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194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data-model-loss-evaluation loop is the real unit of work.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C6D529-3565-4665-BDD4-5FD43E12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486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21A31B-DBAA-48E0-AD12-1AE7E5CA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933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73896C-FA7B-4C36-9B4E-D7D03A25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194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Reproducibility and baselines are design requirements.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742B46-6878-42DD-BADC-8EDC74B1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Deep learning turns raw data into useful representations inside a repeatable data-model-loss-evaluation loop.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6A3850-E949-44B1-9350-0C738CB7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1-2 | B2 Ch. 1-5 selective | B3 Ch. 1-2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54DFC9-3418-41C3-B898-9F12411F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2E0410-CD0E-4EE7-91A5-50537AF1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 | Deep Learning Workflow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208013-0EB8-477D-BD8E-F4CC4580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11/12</a:t>
            </a:r>
          </a:p>
        </p:txBody>
      </p:sp>
    </p:spTree>
    <p:extLst>
      <p:ext uri="{BB962C8B-B14F-4D97-AF65-F5344CB8AC3E}">
        <p14:creationId xmlns:p14="http://schemas.microsoft.com/office/powerpoint/2010/main" val="19787011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B8B0D4-F020-4595-BDC2-813A372B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9DBBB8-4A37-48AE-B005-26B0DF91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Deep learning turns raw data into useful representations inside a repeatable data-model-loss-evaluation loop.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82D144-1518-44F4-8742-A8B44BB9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Answer before you leave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E489B-DE0F-45C0-B51A-4B9F0E47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103DA7-C3DD-47CB-81AC-FE13CF4F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When would a non-deep baseline be preferable?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912F3C-C900-4456-98AF-BC797F42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529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C4C3F0-4C94-4D44-AB9C-2525E6E3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Which part of the learning loop is easiest to overlook?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BF4CA0-8C03-44AA-95C3-E8C90DAB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051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Book references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22A638-F1D3-44BB-9DFF-E505FCA4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766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8720CD-6E45-4BB6-986D-4F07567A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290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Prince, Understanding Deep Learning (MIT Press, 2023)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8FD18C-FB39-4A42-A27F-FA6AD54B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290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2CBFDF-A9F3-4E4C-AEF4-624FB31A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81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Goodfellow, Bengio &amp; Courville, Deep Learning (MIT Press, 2016)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807372-E89D-4A42-AD44-D75A0053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815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B3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BE870C-4632-4F90-B8FF-EC07228D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339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Zhang et al., Dive into Deep Learning (Cambridge University Press, 2024)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319235-3B55-40CD-A4DA-3A252792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A7A685-5564-49B7-99B7-0CC9314D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 | Deep Learning Workflow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D1852A-DC36-4C79-BFD5-7BBF2A3D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12/12</a:t>
            </a:r>
          </a:p>
        </p:txBody>
      </p:sp>
    </p:spTree>
    <p:extLst>
      <p:ext uri="{BB962C8B-B14F-4D97-AF65-F5344CB8AC3E}">
        <p14:creationId xmlns:p14="http://schemas.microsoft.com/office/powerpoint/2010/main" val="8141829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2026-07-12T22:11:02.3330000Z</dcterms:created>
  <dcterms:modified xsi:type="dcterms:W3CDTF">2026-07-12T22:11:02.3340000Z</dcterms:modified>
</coreProperties>
</file>