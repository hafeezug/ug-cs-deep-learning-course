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e019f4569949fb" /><Relationship Type="http://schemas.openxmlformats.org/officeDocument/2006/relationships/extended-properties" Target="/docProps/app.xml" Id="Rf85752c7042e4ac6" /><Relationship Type="http://schemas.openxmlformats.org/officeDocument/2006/relationships/officeDocument" Target="/ppt/presentation.xml" Id="Ref6a970bc51e46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442de2035842d8"/>
  </p:sldMasterIdLst>
  <p:notesMasterIdLst>
    <p:notesMasterId xmlns:r="http://schemas.openxmlformats.org/officeDocument/2006/relationships" r:id="Rf65ed14facbe454d"/>
  </p:notesMasterIdLst>
  <p:sldIdLst>
    <p:sldId xmlns:r="http://schemas.openxmlformats.org/officeDocument/2006/relationships" id="256" r:id="R54cc584bc4344349"/>
    <p:sldId xmlns:r="http://schemas.openxmlformats.org/officeDocument/2006/relationships" id="257" r:id="R368a95c21f514f48"/>
    <p:sldId xmlns:r="http://schemas.openxmlformats.org/officeDocument/2006/relationships" id="258" r:id="R5498863cec424f90"/>
    <p:sldId xmlns:r="http://schemas.openxmlformats.org/officeDocument/2006/relationships" id="259" r:id="R839fe35cf3fd4401"/>
    <p:sldId xmlns:r="http://schemas.openxmlformats.org/officeDocument/2006/relationships" id="260" r:id="R215040a1d4214788"/>
    <p:sldId xmlns:r="http://schemas.openxmlformats.org/officeDocument/2006/relationships" id="261" r:id="Rdb1c0b66953346bb"/>
    <p:sldId xmlns:r="http://schemas.openxmlformats.org/officeDocument/2006/relationships" id="262" r:id="R13d24e8726ac41d1"/>
    <p:sldId xmlns:r="http://schemas.openxmlformats.org/officeDocument/2006/relationships" id="263" r:id="R022f130f617b4154"/>
    <p:sldId xmlns:r="http://schemas.openxmlformats.org/officeDocument/2006/relationships" id="264" r:id="R47e597aa2ed64762"/>
    <p:sldId xmlns:r="http://schemas.openxmlformats.org/officeDocument/2006/relationships" id="265" r:id="R94e177fcde68495c"/>
    <p:sldId xmlns:r="http://schemas.openxmlformats.org/officeDocument/2006/relationships" id="266" r:id="Rfb1cdd86def34198"/>
    <p:sldId xmlns:r="http://schemas.openxmlformats.org/officeDocument/2006/relationships" id="267" r:id="R482e0e843a2d473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a67fb4af73438f" /><Relationship Type="http://schemas.openxmlformats.org/officeDocument/2006/relationships/slideMaster" Target="/ppt/slideMasters/slideMaster1.xml" Id="R1d442de2035842d8" /><Relationship Type="http://schemas.openxmlformats.org/officeDocument/2006/relationships/notesMaster" Target="/ppt/notesMasters/notesMaster1.xml" Id="Rf65ed14facbe454d" /><Relationship Type="http://schemas.openxmlformats.org/officeDocument/2006/relationships/presProps" Target="/ppt/presProps.xml" Id="R88b68788258c4b3a" /><Relationship Type="http://schemas.openxmlformats.org/officeDocument/2006/relationships/tableStyles" Target="/ppt/tableStyles.xml" Id="R6a932da033224dec" /><Relationship Type="http://schemas.openxmlformats.org/officeDocument/2006/relationships/slide" Target="/ppt/slides/slide1.xml" Id="R54cc584bc4344349" /><Relationship Type="http://schemas.openxmlformats.org/officeDocument/2006/relationships/slide" Target="/ppt/slides/slide2.xml" Id="R368a95c21f514f48" /><Relationship Type="http://schemas.openxmlformats.org/officeDocument/2006/relationships/slide" Target="/ppt/slides/slide3.xml" Id="R5498863cec424f90" /><Relationship Type="http://schemas.openxmlformats.org/officeDocument/2006/relationships/slide" Target="/ppt/slides/slide4.xml" Id="R839fe35cf3fd4401" /><Relationship Type="http://schemas.openxmlformats.org/officeDocument/2006/relationships/slide" Target="/ppt/slides/slide5.xml" Id="R215040a1d4214788" /><Relationship Type="http://schemas.openxmlformats.org/officeDocument/2006/relationships/slide" Target="/ppt/slides/slide6.xml" Id="Rdb1c0b66953346bb" /><Relationship Type="http://schemas.openxmlformats.org/officeDocument/2006/relationships/slide" Target="/ppt/slides/slide7.xml" Id="R13d24e8726ac41d1" /><Relationship Type="http://schemas.openxmlformats.org/officeDocument/2006/relationships/slide" Target="/ppt/slides/slide8.xml" Id="R022f130f617b4154" /><Relationship Type="http://schemas.openxmlformats.org/officeDocument/2006/relationships/slide" Target="/ppt/slides/slide9.xml" Id="R47e597aa2ed64762" /><Relationship Type="http://schemas.openxmlformats.org/officeDocument/2006/relationships/slide" Target="/ppt/slides/slide10.xml" Id="R94e177fcde68495c" /><Relationship Type="http://schemas.openxmlformats.org/officeDocument/2006/relationships/slide" Target="/ppt/slides/slide11.xml" Id="Rfb1cdd86def34198" /><Relationship Type="http://schemas.openxmlformats.org/officeDocument/2006/relationships/slide" Target="/ppt/slides/slide12.xml" Id="R482e0e843a2d47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21f098e84744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e064b3c00d4fd1" /><Relationship Type="http://schemas.openxmlformats.org/officeDocument/2006/relationships/notesMaster" Target="/ppt/notesMasters/notesMaster1.xml" Id="Rc0182236ff0646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b231014ad547ba" /><Relationship Type="http://schemas.openxmlformats.org/officeDocument/2006/relationships/notesMaster" Target="/ppt/notesMasters/notesMaster1.xml" Id="R7d07ad03e90c40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273247cb9b44a7" /><Relationship Type="http://schemas.openxmlformats.org/officeDocument/2006/relationships/notesMaster" Target="/ppt/notesMasters/notesMaster1.xml" Id="Rc2dedb2ae40f41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4ff1063b974de8" /><Relationship Type="http://schemas.openxmlformats.org/officeDocument/2006/relationships/notesMaster" Target="/ppt/notesMasters/notesMaster1.xml" Id="R6e0561b942c44c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0e99bb86354d99" /><Relationship Type="http://schemas.openxmlformats.org/officeDocument/2006/relationships/notesMaster" Target="/ppt/notesMasters/notesMaster1.xml" Id="R8a8c02020f514a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34b03e6cfb4d78" /><Relationship Type="http://schemas.openxmlformats.org/officeDocument/2006/relationships/notesMaster" Target="/ppt/notesMasters/notesMaster1.xml" Id="Ra3638d4d799e4e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a233de4ee049a9" /><Relationship Type="http://schemas.openxmlformats.org/officeDocument/2006/relationships/notesMaster" Target="/ppt/notesMasters/notesMaster1.xml" Id="R03b38db1ea5a4b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063c81512e457f" /><Relationship Type="http://schemas.openxmlformats.org/officeDocument/2006/relationships/notesMaster" Target="/ppt/notesMasters/notesMaster1.xml" Id="Re64cf2a497014c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fe5e0e36a04c01" /><Relationship Type="http://schemas.openxmlformats.org/officeDocument/2006/relationships/notesMaster" Target="/ppt/notesMasters/notesMaster1.xml" Id="Reac28dc6eadf41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50aeac96754958" /><Relationship Type="http://schemas.openxmlformats.org/officeDocument/2006/relationships/notesMaster" Target="/ppt/notesMasters/notesMaster1.xml" Id="Rbbf770ef5cd34c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8751e4202c442b" /><Relationship Type="http://schemas.openxmlformats.org/officeDocument/2006/relationships/notesMaster" Target="/ppt/notesMasters/notesMaster1.xml" Id="R0793d8c4ea1549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030a419f49463e" /><Relationship Type="http://schemas.openxmlformats.org/officeDocument/2006/relationships/notesMaster" Target="/ppt/notesMasters/notesMaster1.xml" Id="R39df8c59b5474b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Open with the course question and ask students where they have already encountered this model family.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Preview the conceptual arc. Ask students to choose which outcome feels least secure and revisit that choice at the exit ticket.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minutes.</a:t>
            </a:r>
          </a:p>
          <a:p xmlns:a="http://schemas.openxmlformats.org/drawingml/2006/main">
            <a:r>
              <a:t>Teaching moves: Build the diagram left to right. Pause after each transition and ask what information is created, lost, or constrained.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Explain the core idea, then ask students to connect each bullet to a visible part of the diagram.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Have students predict the result before revealing each step. Work the arithmetic or shape trace on the board.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Use the three-stage sequence to summarize the first half. Ask one student to restate the pattern in their own words.</a:t>
            </a:r>
          </a:p>
          <a:p xmlns:a="http://schemas.openxmlformats.org/drawingml/2006/main">
            <a:r>
              <a:t>After this slide, take a 10-minute break before continuing.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Compare the two choices through one concrete task. Ask which assumption would make the recommendation reverse.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Read the code as a sequence of invariants. Ask students to identify the line where a shape, graph, or data leak error would surface.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Invite students to name one observable signature for each failure. Separate symptoms from root causes.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Run the activity exactly as shown. Ask for reasoning and assumptions, not just an architecture name or numeric answer.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Ask students to explain the three takeaways without looking at the prior slides. Correct connections, not isolated wording.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moves: Collect a one-minute written response. Close by naming the bridge to the next lecture.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8be5b4d23d4b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ffb2e3edcb4392" /><Relationship Type="http://schemas.openxmlformats.org/officeDocument/2006/relationships/slideLayout" Target="/ppt/slideLayouts/slideLayout1.xml" Id="Rd783ce24f96c4f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83ce24f96c4f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0f6d573ca4285" /><Relationship Type="http://schemas.openxmlformats.org/officeDocument/2006/relationships/notesSlide" Target="/ppt/notesSlides/notesSlide1.xml" Id="Rcf536530e30142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a38cb503347c2" /><Relationship Type="http://schemas.openxmlformats.org/officeDocument/2006/relationships/notesSlide" Target="/ppt/notesSlides/notesSlide2.xml" Id="R4f0787e2139d41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2610f26154164" /><Relationship Type="http://schemas.openxmlformats.org/officeDocument/2006/relationships/notesSlide" Target="/ppt/notesSlides/notesSlide3.xml" Id="R30c20aae3fba48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5b7fcdcee47d8" /><Relationship Type="http://schemas.openxmlformats.org/officeDocument/2006/relationships/notesSlide" Target="/ppt/notesSlides/notesSlide4.xml" Id="R0dcf7c07e08d45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058c3cfdf4d14" /><Relationship Type="http://schemas.openxmlformats.org/officeDocument/2006/relationships/notesSlide" Target="/ppt/notesSlides/notesSlide5.xml" Id="R65974e80d3814f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15a680fc146d9" /><Relationship Type="http://schemas.openxmlformats.org/officeDocument/2006/relationships/notesSlide" Target="/ppt/notesSlides/notesSlide6.xml" Id="Rfceef98659434f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2f89686f14c3e" /><Relationship Type="http://schemas.openxmlformats.org/officeDocument/2006/relationships/notesSlide" Target="/ppt/notesSlides/notesSlide7.xml" Id="R93286853d39e45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eec2d63084862" /><Relationship Type="http://schemas.openxmlformats.org/officeDocument/2006/relationships/notesSlide" Target="/ppt/notesSlides/notesSlide8.xml" Id="R0449905645a340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de9b2383b471b" /><Relationship Type="http://schemas.openxmlformats.org/officeDocument/2006/relationships/notesSlide" Target="/ppt/notesSlides/notesSlide9.xml" Id="R11cbb17961c742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454a4fd194ef6" /><Relationship Type="http://schemas.openxmlformats.org/officeDocument/2006/relationships/notesSlide" Target="/ppt/notesSlides/notesSlide10.xml" Id="R123241faf0eb42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83dace2ff475f" /><Relationship Type="http://schemas.openxmlformats.org/officeDocument/2006/relationships/notesSlide" Target="/ppt/notesSlides/notesSlide11.xml" Id="R61b534cb3e9d40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52936cc4c49bd" /><Relationship Type="http://schemas.openxmlformats.org/officeDocument/2006/relationships/notesSlide" Target="/ppt/notesSlides/notesSlide12.xml" Id="Rd97f675347394f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932AF9-D2C0-44A3-A020-6638F462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DEEP LEARNING | WEEK 14 | TWO-HOUR LECTURE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826CF-BCCC-4444-BE95-89EBE050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619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Graph Neural Networks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A0F3E-1239-40F8-B75E-E73B0062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476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GNNs learn relational representations by repeatedly aggregating and transforming information from neighboring nodes.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8DE6C-1E5D-41B9-AC21-4E19D5B6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2450"/>
            <a:ext cx="5305425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8D74F-97D3-4BF1-8800-967CDEE0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232" y="2146935"/>
            <a:ext cx="15148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B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F0736-33BC-449B-83E9-4CBF25B9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146935"/>
            <a:ext cx="15148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B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6225F-A167-4F74-B6A8-7293D8B1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232" y="2146935"/>
            <a:ext cx="0" cy="18021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B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6AD23-FE9E-4EE3-9A0D-4D6BDBF3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146935"/>
            <a:ext cx="0" cy="18021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B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12896-047B-49D5-80C6-E7EB5131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6944" y="2146935"/>
            <a:ext cx="0" cy="18021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B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A2DDA-8B0A-4E0A-A3D7-36E0DC82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232" y="3949065"/>
            <a:ext cx="15148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B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7CE95-869A-405F-85F9-33147218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949065"/>
            <a:ext cx="15148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B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A9A95-F969-42AE-B67B-FEB9147C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682" y="193738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7DA62-A5DC-4269-B7DA-728A5310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832" y="202311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656B1-304A-4E08-8C27-327F5369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193738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37861-9FCA-4654-A5A8-2404F789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02311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91E84-42E6-4AE5-B4EE-0E27F7DA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394" y="193738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1B50E-8526-4DCC-B12B-FFA76557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4544" y="202311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24BD56-2293-45D9-BCBA-A53F6CCD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682" y="373951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548C4A-0AF2-4550-9F53-D2F0F272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832" y="382524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D0EF2-1A96-4056-95F3-F7E15656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373951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6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EDDF43-6A8B-429A-985E-D4611B92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382524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690FD7-CF21-456E-898C-55B81E1A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394" y="373951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CC3208-F3D2-4633-8EAF-EF108E7C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4544" y="382524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036E24-6785-4937-B6C9-5C33E5C2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14950"/>
            <a:ext cx="4733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Original diagram based on the cited books.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9ACA70-0F8C-4BF2-908D-82B19F4C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13 | B4 Ch. 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7A2BED-B12C-442A-B3B9-78226D11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217F58-6254-4E34-8ED5-4B843C34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14 | Graph Neural Networks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D8E7A1-24E8-4811-AC5C-1F7364C3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8085518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6549D8-011A-418B-B730-B57784D0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C8E07-CBC9-4423-9837-6B317A82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this lecture enables you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73570-982E-4182-92FB-7F3B3D0B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3FAAD-BA14-48D3-8924-FF9A7EFE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Represent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9F1CA-1845-4E01-A2E9-2292E298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Represent graph structure, features, and prediction targets.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47909-47D0-473D-BB3D-FF755F4A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40315-CCA5-41F0-BA54-E58DCBCE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4E488-9B82-4488-8D33-4DA061EF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Derive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B8490-304C-4651-9B95-87416797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Derive permutation-invariant message passing and a GCN update.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7F38A-77BB-4A5E-94C1-6ECBC960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FFF55-559D-46A7-A198-733BEF27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ADA1E-54D1-4C8F-A05B-B4905D95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7B13A-5DDB-4F9D-8ABC-81332EEB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Compare GCN, GraphSAGE, GAT, and graph-level readout choices.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D81115-A35E-47BC-9115-1C2EBEDF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AD980-521E-433B-8442-5EE6717E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9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Learning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79832-BF62-4F81-A813-DFC013C5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128F69-2F39-4D46-B552-BC8DA16A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node representation changes when its neighborhood speaks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A73D0-E8F1-4ECE-A91C-D96EFB01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674CF1-8DBE-400D-B070-1AE953D7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Message passing shares one local rule across the entire graph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B0F51D-2568-4761-8336-4115B24F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766C2-D767-473C-A50E-BDCFD2B7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One mean-aggregation step makes the graph operation concrete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E5ABA2-B6F2-44EA-AE52-CE8BA00C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27686B-05FF-414A-8BE0-6BB7D23B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528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task determines where the prediction head reads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7A9D7F-2642-406E-B712-CCACDD0B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73C48F-8A09-442D-B6A2-67B4896F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Different GNNs change how neighbors are selected and weighted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A777A1-FF7D-435A-AACF-FF926F17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2E3341-4D81-4B22-8992-9AD5F5A8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Define the graph before choosing the GNN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CF4D51-68DA-4952-8565-385C4C02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13 | B4 Ch. 13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130189-7385-4F75-99D9-7834FF4E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5802BB-D646-44D0-B951-B5237CBE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14 | Graph Neural Networks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A11E2A-8BBA-4C90-BFC1-9BD06D12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7533787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FAC331-E374-4C22-B116-EB21867E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B69F2-DA5F-47C3-A128-B0FF5D9A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node representation changes when its neighborhood speaks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BF366-145B-455E-92D2-D38FC7FE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AC98D-F4C1-4D9F-9C61-E559727C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2714625"/>
            <a:ext cx="3425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B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E915A-92A6-4683-BE94-5ACBDEC3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3425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B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1CE0D-5BDB-4DCC-9C33-16CB67EC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2714625"/>
            <a:ext cx="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B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42886-CDDE-4736-9EFD-ECADE9ED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B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C81E6-8F36-4F62-AAA4-2D5B2EFA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952" y="2714625"/>
            <a:ext cx="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B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BE32A-79D4-4F82-A370-E6DEFE01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3762375"/>
            <a:ext cx="3425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B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C3AF3-FD2F-4515-9F98-65E45332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3425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B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AA6CC-2B7D-4B38-821D-53BAC4AC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498" y="25050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A026C-F895-4ADA-9C3D-EEF113A5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648" y="259080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9B510-6AB4-43AE-A2EB-F682F783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050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8C96D-A62A-402B-9BC9-290F4F8F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9080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B02DD-2C26-4C62-9EB7-3BE388DF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2402" y="25050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173D4-B3BB-435A-A429-C0C82B96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552" y="259080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60182B-3DEB-4C8A-89C6-7ECF7A03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498" y="3552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1ED36-5673-40C5-8C86-DAD67483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648" y="363855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894B60-720C-4C7C-9F01-9DC56257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52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6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529C32-971C-46AF-8803-016B5C94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3855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A32211-D187-4325-8F87-29D684E6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2402" y="3552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9B6664-4484-48F2-B6C5-7ADC8332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552" y="363855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3F6EFB-7286-4741-9092-29CFCE63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9580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 valid neighborhood aggregator must not depend on the arbitrary order in which neighbors are listed.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B8D15E-497B-43C9-A35E-C111323F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24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Use this diagram as the organizing map for the rest of the lecture.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710FEF-ABDF-4EB4-B6AD-07E418C7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13 | B4 Ch. 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06C96C-6EE4-41F2-A0A9-852FD3ED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46389D-534B-4B7F-9A8A-14655A6E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14 | Graph Neural Networks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BF71D6-A136-4B54-BA20-A1992DA3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6873644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BC38D3-6BDB-4261-8091-188B2CEF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CORE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98358-207C-4948-87FF-B6FEF6D5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Message passing shares one local rule across the entire 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DDEC5-459B-484A-97D8-5696F6B4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Messages combine sender, receiver, and edge information.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Sum, mean, or attention aggregation is permutation invariant.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The update mixes aggregated context with the current node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CCD23-3111-46DE-A265-8A52BC91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5781675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50504-367C-43AE-8627-B3A0AA8F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187" y="2796540"/>
            <a:ext cx="1636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B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2AF6F-A3FE-4E19-8739-7636511B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963" y="2796540"/>
            <a:ext cx="1636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B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11919-7A7B-4421-845E-E40F70DF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187" y="2796540"/>
            <a:ext cx="0" cy="11315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B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1EDC4-1352-42E1-BBE2-846FBC69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963" y="2796540"/>
            <a:ext cx="0" cy="11315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B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5BBD4-6645-4647-9019-02F0EFE2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0739" y="2796540"/>
            <a:ext cx="0" cy="11315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B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84727-6AAB-45B5-A4DF-10384E6F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187" y="3928110"/>
            <a:ext cx="1636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B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6828B-B83C-4FB4-BFF4-BDC2DCD0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963" y="3928110"/>
            <a:ext cx="1636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B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6E45E-CA93-48C2-A6E0-3A59863F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7637" y="258699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22147-BB6F-4887-AF69-F747E54B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787" y="2672715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AF0702-AA7D-4353-94E4-C738FC51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413" y="258699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7C667-A369-4EF6-B503-A32F28F3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563" y="2672715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C7F9B-CFD4-4A10-A81D-884ABF98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89" y="258699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93CBE3-0E9D-4C47-8A37-6C006E88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8339" y="2672715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77EE20-30DF-4DB5-AB30-647F9589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7637" y="371856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08DF0-DD9C-4935-A57A-F679C5A2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787" y="3804285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63F4F0-9209-4108-9322-8EB63568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413" y="371856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6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D58AD-F671-4645-8ECE-38F5EA53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563" y="3804285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2FC84-0319-4EB4-98F3-26B291F1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89" y="371856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73598-AC3F-40CF-A3C2-0F2F20DF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8339" y="3804285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DD3E4F-1B6E-427F-B9AD-49A743DE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5114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GNNs learn relational representations by repeatedly aggregating and transforming information from neighboring nodes.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E2E837-6966-4E17-BECD-A73D90B4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13 | B4 Ch. 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FE4736-EE23-4EF8-A7BE-8D0A2D6F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DCF43E-6D72-4191-9EDE-DAED9CF0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14 | Graph Neural Networks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64BB73-0DDE-4022-B951-82313235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542834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847727-E3AF-419A-9674-22B83601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592A2-E801-4ADA-9C49-D20F7DF9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One mean-aggregation step makes the graph operation concrete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07199-2968-4EF7-81F6-5D7AC045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D1A56-948C-4632-9624-E1AF7A6E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Node A has feature 2 and neighbors B=4 and D=8. Use mean aggregation and update h'_A = h_A + mean(neighbors).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A8458-5006-4EF7-9F3F-76794A20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0AF59-E9CA-4D58-BD83-30F9AFBE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Neighbor mean = (4+8)/2 = 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C475F-4670-463C-95A3-247434F4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82F1A-65EA-48D4-A8A3-739714BD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Combine with A: 2+6 = 8.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CE8F8-8A56-4C6D-A15B-70BCA9D9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34D4A-57C8-4A9A-9C67-57387338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learnable layer would transform the combined vector before activation.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03282-56B7-4BC7-9C46-46D7D9FB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EA6C8-6BD6-4049-AE50-219B468B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E1B3B-BCE1-4C5F-B7C9-E918B887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After multiple layers, A contains information from progressively wider neighborhoods.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D227C-5108-4E05-8216-D18D4856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13 | B4 Ch. 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590D3-71E6-4226-A540-7C5EF373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BB8F4-7E94-4F6A-B5A3-8A4D077C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14 | Graph Neural Networks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19FA81-6558-4308-9E6C-E012C23B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9597801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2DCE72-693E-4250-A931-C723FBC7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DESIGN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D69AB-1F99-4030-AA0E-48D5AFDA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task determines where the prediction head reads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0C45B-7E12-4ABB-B399-A76871EB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Node tasks predict a label for each node.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Edge tasks score relationships or missing links.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Graph tasks pool node representations into a whole-graph summary.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72A3C-19D6-45D4-B3EF-AAD575BB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1D708-58A8-443D-8015-20C9EB5E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69E9A-FE55-4F13-9951-E26A3D1C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BD324-A3DC-496C-971A-81EA5387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Propagate locally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D2C61-F38A-4EA2-821D-EDF3398C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52FBE-BA25-444E-A396-C98735A1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03DE1-20BB-4FFB-929A-5D9626F3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Stack neighborhoods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C389F-B848-4B13-8E63-D3F4D895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7E76A-2FB9-46F1-8480-4B89AEDC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11338-FE43-4EFB-A58B-DF225A39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Read at target level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24B7D-7877-4133-8171-C600AEC6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useful pattern makes the next experiment explicit.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F634B-3D09-4DD1-BE26-D460040F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13 | B4 Ch. 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75F7A-601E-4C77-A30C-8AFD6188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B11B67-1B71-4745-A407-EBEBB1B0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14 | Graph Neural Networks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030F9C-7663-4BA8-AD09-04A37688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2435046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A494F0-DB8A-4CFD-8643-1FAF1F1D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DECISION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61989-ADA1-44D4-910F-24EB365E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Different GNNs change how neighbors are selected and weighted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0D13F-4A96-4729-933E-30DA6C50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The shared message-passing pattern remains, but aggregation and generalization behavior differ.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9DC3C-C206-4967-B404-3DD9D420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B4EA5-C466-4A85-93E3-1CD074A5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GCN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B34F0-0F35-4DC6-985D-1F1DD69D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Degree-normalized neighbor mixing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Simple and efficient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Can oversmooth with depth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F26B8-501C-44CA-A051-5C156BA2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C7B7E-BD99-452F-9D37-105017F6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GraphSAGE or GAT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EAB4B-5DF5-4131-BC59-6F958A56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Sample neighbors or learn attention weights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Supports inductive settings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Adds sampling or attention cost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6E58A-5E92-4940-AC33-777ACA2A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13 | B4 Ch. 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60FCF-4287-4129-878C-BFC5A2A5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7BF4C-A6D3-4F0A-9BEF-2F413F03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14 | Graph Neural Networks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004DB-E3EE-4183-896E-8B5E5118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13356423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81A8D4-DCB4-4E7D-B7EE-E7FB61E8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IMPLEMENTATION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A4957-C8E6-4D1C-91CD-56F05163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Normalized adjacency turns message passing into matrix multiplication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E86B8-280D-4B81-BF0D-7C6001AB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5722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9525">
            <a:solidFill>
              <a:srgbClr val="1821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DE4D8-2754-49E6-B578-163643A8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6000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A_tilde = A + torch.eye(n)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D_inv_sqrt = torch.diag(A_tilde.sum(1).pow(-0.5))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A_norm = D_inv_sqrt @ A_tilde @ D_inv_sqrt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H = torch.relu(A_norm @ X @ W)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assert H.shape[0] == 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68657-A545-4907-827F-B692C28C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05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to watch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C433D-167B-451B-9E88-DCEC59F0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45059-E04F-45BC-A37F-DD536FE5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47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Add self-loops intentionally.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0958B-D7F5-4ABF-854C-3108CE17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9ABBD-0361-4DA9-B632-B14FC5DA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00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Keep train masks separate.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783C2-8CDD-4A37-8979-9D2B08E9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9AAFF-DB79-4BBD-94DF-BA9738FE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52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Compare against an edge-ignorant MLP.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91D7C-DE18-4775-997E-7934C9BC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13 | B4 Ch. 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CC71D-61A8-4FAA-BDEC-182C38ED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06A07-40E7-450C-B2F6-734DAFD1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14 | Graph Neural Networks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2C69F-83A0-4D91-B5CB-BD592D14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19079350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B0F9A8-3271-405C-8965-B732ED81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69614-74C0-4EF7-9677-9E8D78CD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Graph evaluation can leak structure in subtle 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20A7D-62AA-44A2-B63D-61D61A64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12939-E099-4A4B-8B5C-CEDCCE32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5108F-3049-4C15-A514-09866893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Split mismatch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D1625-046C-442C-9032-F2B94C19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Cross-split edges can be valid transductively, but leak when the task assumes unseen entities or graphs.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1F78F-CD05-4752-9CB0-E3C90ED0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E4B5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386DE-E3A6-4316-A286-E9F23B5A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9B8DF-F5A1-4A66-ACE4-A3A9C89C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Oversmoothing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FC332-6BF3-4CB0-8036-7674CE31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Deep propagation makes node representations indistinguishable.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C2542-410E-4A53-A6D1-D410838C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E406B6-776E-4AF3-9D90-634A54D2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58216-2CEE-4336-A0D9-91C5C72B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Degree shortcut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79566-724B-432A-BBB7-E369CEA3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model exploits connectivity patterns instead of meaningful features.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9702B-7181-4F4E-B703-CF0AEC3C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673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Diagnose with evidence before changing the architecture.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40A0F-31C9-4A5B-96F4-5694859B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13 | B4 Ch. 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242C3-F48E-452B-98DF-4365EAF3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2FE70-3E98-4DAE-8C4F-90D82C95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14 | Graph Neural Networks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96EAC-1A01-434E-A880-57F1F098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11294410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BCE96A-0064-41D0-88EF-E42C5472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ACTIVE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AA081-14E6-4B6F-9230-B1DFDF21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Define the graph before choosing the GNN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D48CB-2B13-4CC5-BC66-62147FCE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6042D-1479-4411-9C34-38A8AEA8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For road traffic, a social network, and molecules, define nodes, edges, features, targets, split strategy, and one non-graph baseline.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1C594-724E-4DA6-A71E-449A5E64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679D2-5E89-4523-AD22-DE4B470C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Name the entities.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01711-370D-4885-9535-4F5BAAD7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99BE9-9B13-4E68-A6E7-32C84A1C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Justify each edge.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84817-914E-4E5A-9700-38CBECDD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21CED-EB43-4A2C-8998-BD4B9DB2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the readout level.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BBE6B-CBB7-4DE4-829B-51641117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291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Share-out criterion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E6CEE-8C50-4B38-AE9D-BA9CBF04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graph model is justified only when relations carry predictive information.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ADBA8-F9EF-4C28-87FA-8FB86234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13 | B4 Ch. 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FABD9-50C2-44D1-831E-720FBE1D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61C7D-8BFA-4FE1-B918-1E5AAAB9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14 | Graph Neural Networks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4875E-2AF0-44A8-906A-52F77E81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20911853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A4CFBD-FBEE-4EBD-9F15-5A4867B5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12075-EF2D-454D-8351-5FC37A2E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to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3246D-F5AF-4B7D-95E2-799F6DD6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9024C-D569-44A5-B65A-D58A5E85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30094-BCCD-43A4-B43B-3EF65281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50301-6CE2-4F25-B0E2-FE60486A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Permutation-invariant aggregation is the core GNN operation.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46E36-1E86-439D-842B-68AFCD06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F5EB2-854A-4BF2-8112-680E64E4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E4F1F-166C-4DE9-AFDE-C589A6C5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Stacked layers expand the receptive neighborhood.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12866-E7E2-4AB6-A4D0-C05A18E5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2F1B2-C132-41F7-AC86-9CE67361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41816-C3B7-40DF-96BF-1131B761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Task level and split design determine the evaluation.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FC61A-B214-43D2-B300-6BDAF651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GNNs learn relational representations by repeatedly aggregating and transforming information from neighboring nodes.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2E0B0-133C-48AB-A4A3-57197392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13 | B4 Ch. 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B954A-E9F4-4A88-AFCE-8A234A82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69AFB-D8F4-4977-BF79-DB4D82AE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14 | Graph Neural Networks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FB0E2-AF3E-4B44-968E-3AFDBDC2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13308256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2ACF2E-81C2-4405-BB76-4203F3EE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3B057-64F9-437A-B43B-678A9A2B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GNNs learn relational representations by repeatedly aggregating and transforming information from neighboring nodes.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8E673-B377-4D39-A87D-797C0DEA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Answer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681CA-2A16-41B9-9AAF-3377B2DD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97351-5A01-48FC-9F13-AB37E77D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does neighbor order not matter?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F9605-5E9B-4A5B-8175-DBC167F6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B8FF5-4AE4-4E69-B0CF-05DE8A3E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baseline tests whether edges add value?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0C678-CC5F-4C8A-ADBF-59EA4BAD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Book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16456-58D1-40D6-85AD-50A47433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2F48C-EAAC-43AB-9E25-59F974F6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Prince, Understanding Deep Learning (MIT Press, 2023)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145DF-8453-4728-BBD2-7642E468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29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F4C61-D5DA-4C8B-9D1C-CF823DDB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Bishop &amp; Bishop, Deep Learning: Foundations and Concepts (Springer, 2024)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F678E-0677-4037-A3DC-51067EF3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1A7506-BB9D-4B26-BC37-7596EE60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14 | Graph Neural Networks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4C26F6-2920-4539-A172-34ADCDC5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1170583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2026-07-12T22:12:19.8390000Z</dcterms:created>
  <dcterms:modified xsi:type="dcterms:W3CDTF">2026-07-12T22:12:19.8390000Z</dcterms:modified>
</coreProperties>
</file>