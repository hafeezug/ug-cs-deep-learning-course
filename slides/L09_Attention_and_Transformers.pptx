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daf63e8f76433a" /><Relationship Type="http://schemas.openxmlformats.org/officeDocument/2006/relationships/extended-properties" Target="/docProps/app.xml" Id="R66633b81142948d3" /><Relationship Type="http://schemas.openxmlformats.org/officeDocument/2006/relationships/officeDocument" Target="/ppt/presentation.xml" Id="R6f4f97731f984c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88d1a9665642e9"/>
  </p:sldMasterIdLst>
  <p:notesMasterIdLst>
    <p:notesMasterId xmlns:r="http://schemas.openxmlformats.org/officeDocument/2006/relationships" r:id="R8ee606e97cad4713"/>
  </p:notesMasterIdLst>
  <p:sldIdLst>
    <p:sldId xmlns:r="http://schemas.openxmlformats.org/officeDocument/2006/relationships" id="256" r:id="R9c3b5094bee24302"/>
    <p:sldId xmlns:r="http://schemas.openxmlformats.org/officeDocument/2006/relationships" id="257" r:id="R0b97cf30509049e1"/>
    <p:sldId xmlns:r="http://schemas.openxmlformats.org/officeDocument/2006/relationships" id="258" r:id="Rdef376b4ee2846d8"/>
    <p:sldId xmlns:r="http://schemas.openxmlformats.org/officeDocument/2006/relationships" id="259" r:id="Rbdde182b4e16438a"/>
    <p:sldId xmlns:r="http://schemas.openxmlformats.org/officeDocument/2006/relationships" id="260" r:id="R9cb415a0267345db"/>
    <p:sldId xmlns:r="http://schemas.openxmlformats.org/officeDocument/2006/relationships" id="261" r:id="R627d1f2e57954e10"/>
    <p:sldId xmlns:r="http://schemas.openxmlformats.org/officeDocument/2006/relationships" id="262" r:id="Rf9eaebb51a9f4d3e"/>
    <p:sldId xmlns:r="http://schemas.openxmlformats.org/officeDocument/2006/relationships" id="263" r:id="Re0bfe431ca0c4751"/>
    <p:sldId xmlns:r="http://schemas.openxmlformats.org/officeDocument/2006/relationships" id="264" r:id="R43ea9e473c5144dd"/>
    <p:sldId xmlns:r="http://schemas.openxmlformats.org/officeDocument/2006/relationships" id="265" r:id="R7751dc670af8424a"/>
    <p:sldId xmlns:r="http://schemas.openxmlformats.org/officeDocument/2006/relationships" id="266" r:id="Rc8b7904e33c14288"/>
    <p:sldId xmlns:r="http://schemas.openxmlformats.org/officeDocument/2006/relationships" id="267" r:id="R5004a9e822bb477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df97533fc84474" /><Relationship Type="http://schemas.openxmlformats.org/officeDocument/2006/relationships/slideMaster" Target="/ppt/slideMasters/slideMaster1.xml" Id="R5f88d1a9665642e9" /><Relationship Type="http://schemas.openxmlformats.org/officeDocument/2006/relationships/notesMaster" Target="/ppt/notesMasters/notesMaster1.xml" Id="R8ee606e97cad4713" /><Relationship Type="http://schemas.openxmlformats.org/officeDocument/2006/relationships/presProps" Target="/ppt/presProps.xml" Id="R80380dc3d8984427" /><Relationship Type="http://schemas.openxmlformats.org/officeDocument/2006/relationships/tableStyles" Target="/ppt/tableStyles.xml" Id="R14cac7312ee04ab7" /><Relationship Type="http://schemas.openxmlformats.org/officeDocument/2006/relationships/slide" Target="/ppt/slides/slide1.xml" Id="R9c3b5094bee24302" /><Relationship Type="http://schemas.openxmlformats.org/officeDocument/2006/relationships/slide" Target="/ppt/slides/slide2.xml" Id="R0b97cf30509049e1" /><Relationship Type="http://schemas.openxmlformats.org/officeDocument/2006/relationships/slide" Target="/ppt/slides/slide3.xml" Id="Rdef376b4ee2846d8" /><Relationship Type="http://schemas.openxmlformats.org/officeDocument/2006/relationships/slide" Target="/ppt/slides/slide4.xml" Id="Rbdde182b4e16438a" /><Relationship Type="http://schemas.openxmlformats.org/officeDocument/2006/relationships/slide" Target="/ppt/slides/slide5.xml" Id="R9cb415a0267345db" /><Relationship Type="http://schemas.openxmlformats.org/officeDocument/2006/relationships/slide" Target="/ppt/slides/slide6.xml" Id="R627d1f2e57954e10" /><Relationship Type="http://schemas.openxmlformats.org/officeDocument/2006/relationships/slide" Target="/ppt/slides/slide7.xml" Id="Rf9eaebb51a9f4d3e" /><Relationship Type="http://schemas.openxmlformats.org/officeDocument/2006/relationships/slide" Target="/ppt/slides/slide8.xml" Id="Re0bfe431ca0c4751" /><Relationship Type="http://schemas.openxmlformats.org/officeDocument/2006/relationships/slide" Target="/ppt/slides/slide9.xml" Id="R43ea9e473c5144dd" /><Relationship Type="http://schemas.openxmlformats.org/officeDocument/2006/relationships/slide" Target="/ppt/slides/slide10.xml" Id="R7751dc670af8424a" /><Relationship Type="http://schemas.openxmlformats.org/officeDocument/2006/relationships/slide" Target="/ppt/slides/slide11.xml" Id="Rc8b7904e33c14288" /><Relationship Type="http://schemas.openxmlformats.org/officeDocument/2006/relationships/slide" Target="/ppt/slides/slide12.xml" Id="R5004a9e822bb47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069ff2138940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09a3a778d2475e" /><Relationship Type="http://schemas.openxmlformats.org/officeDocument/2006/relationships/notesMaster" Target="/ppt/notesMasters/notesMaster1.xml" Id="Rd4d3b57315b84d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1c0534c115470e" /><Relationship Type="http://schemas.openxmlformats.org/officeDocument/2006/relationships/notesMaster" Target="/ppt/notesMasters/notesMaster1.xml" Id="R8b8a98821b9e46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cbe6c452b9454a" /><Relationship Type="http://schemas.openxmlformats.org/officeDocument/2006/relationships/notesMaster" Target="/ppt/notesMasters/notesMaster1.xml" Id="R9bb0548a75474a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08f32fb2fa43a0" /><Relationship Type="http://schemas.openxmlformats.org/officeDocument/2006/relationships/notesMaster" Target="/ppt/notesMasters/notesMaster1.xml" Id="R3fac3bc22eba47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467b09ad674b48" /><Relationship Type="http://schemas.openxmlformats.org/officeDocument/2006/relationships/notesMaster" Target="/ppt/notesMasters/notesMaster1.xml" Id="R90b2e927ae714b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99307b6e04489e" /><Relationship Type="http://schemas.openxmlformats.org/officeDocument/2006/relationships/notesMaster" Target="/ppt/notesMasters/notesMaster1.xml" Id="Rf5a0773997a846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2f23583e5e494a" /><Relationship Type="http://schemas.openxmlformats.org/officeDocument/2006/relationships/notesMaster" Target="/ppt/notesMasters/notesMaster1.xml" Id="Rb3cb934228554b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a6dd893b3240e0" /><Relationship Type="http://schemas.openxmlformats.org/officeDocument/2006/relationships/notesMaster" Target="/ppt/notesMasters/notesMaster1.xml" Id="R692d5fde8e7d49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6644cfd7cf4d7f" /><Relationship Type="http://schemas.openxmlformats.org/officeDocument/2006/relationships/notesMaster" Target="/ppt/notesMasters/notesMaster1.xml" Id="R5374a3ae450e44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fb419e27b54dec" /><Relationship Type="http://schemas.openxmlformats.org/officeDocument/2006/relationships/notesMaster" Target="/ppt/notesMasters/notesMaster1.xml" Id="R84de5435d8784a7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325acd004c04b41" /><Relationship Type="http://schemas.openxmlformats.org/officeDocument/2006/relationships/notesMaster" Target="/ppt/notesMasters/notesMaster1.xml" Id="R9754c4ebd0e94b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9c9c1d1843466f" /><Relationship Type="http://schemas.openxmlformats.org/officeDocument/2006/relationships/notesMaster" Target="/ppt/notesMasters/notesMaster1.xml" Id="R7d43c792c7c74a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moves: Open with the course question and ask students where they have already encountered this model family.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Preview the conceptual arc. Ask students to choose which outcome feels least secure and revisit that choice at the exit ticket.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 minutes.</a:t>
            </a:r>
          </a:p>
          <a:p xmlns:a="http://schemas.openxmlformats.org/drawingml/2006/main">
            <a:r>
              <a:t>Teaching moves: Build the diagram left to right. Pause after each transition and ask what information is created, lost, or constrained.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minutes.</a:t>
            </a:r>
          </a:p>
          <a:p xmlns:a="http://schemas.openxmlformats.org/drawingml/2006/main">
            <a:r>
              <a:t>Teaching moves: Explain the core idea, then ask students to connect each bullet to a visible part of the diagram.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minutes.</a:t>
            </a:r>
          </a:p>
          <a:p xmlns:a="http://schemas.openxmlformats.org/drawingml/2006/main">
            <a:r>
              <a:t>Teaching moves: Have students predict the result before revealing each step. Work the arithmetic or shape trace on the board.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Use the three-stage sequence to summarize the first half. Ask one student to restate the pattern in their own words.</a:t>
            </a:r>
          </a:p>
          <a:p xmlns:a="http://schemas.openxmlformats.org/drawingml/2006/main">
            <a:r>
              <a:t>After this slide, take a 10-minute break before continuing.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Compare the two choices through one concrete task. Ask which assumption would make the recommendation reverse.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Read the code as a sequence of invariants. Ask students to identify the line where a shape, graph, or data leak error would surface.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Invite students to name one observable signature for each failure. Separate symptoms from root causes.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Run the activity exactly as shown. Ask for reasoning and assumptions, not just an architecture name or numeric answer.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moves: Ask students to explain the three takeaways without looking at the prior slides. Correct connections, not isolated wording.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moves: Collect a one-minute written response. Close by naming the bridge to the next lecture.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85ca325a5b4f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e76fc012d64c63" /><Relationship Type="http://schemas.openxmlformats.org/officeDocument/2006/relationships/slideLayout" Target="/ppt/slideLayouts/slideLayout1.xml" Id="R57c8cce11b434d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c8cce11b434d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4478c7dc44431" /><Relationship Type="http://schemas.openxmlformats.org/officeDocument/2006/relationships/notesSlide" Target="/ppt/notesSlides/notesSlide1.xml" Id="R2097136fe2b94c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e80863dc24f4f" /><Relationship Type="http://schemas.openxmlformats.org/officeDocument/2006/relationships/notesSlide" Target="/ppt/notesSlides/notesSlide2.xml" Id="Rf248f127a16748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3b65861c44910" /><Relationship Type="http://schemas.openxmlformats.org/officeDocument/2006/relationships/notesSlide" Target="/ppt/notesSlides/notesSlide3.xml" Id="R3411f5e7cdea45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c3bb5569446a4" /><Relationship Type="http://schemas.openxmlformats.org/officeDocument/2006/relationships/notesSlide" Target="/ppt/notesSlides/notesSlide4.xml" Id="Rc92e95ec475943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8777155244fc7" /><Relationship Type="http://schemas.openxmlformats.org/officeDocument/2006/relationships/notesSlide" Target="/ppt/notesSlides/notesSlide5.xml" Id="R5c9f29d0a5784f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a1d7ae00540e6" /><Relationship Type="http://schemas.openxmlformats.org/officeDocument/2006/relationships/notesSlide" Target="/ppt/notesSlides/notesSlide6.xml" Id="R4b36df399b214d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43d8bdf984e11" /><Relationship Type="http://schemas.openxmlformats.org/officeDocument/2006/relationships/notesSlide" Target="/ppt/notesSlides/notesSlide7.xml" Id="Rdfe1fec618e24f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e099be1f24a6b" /><Relationship Type="http://schemas.openxmlformats.org/officeDocument/2006/relationships/notesSlide" Target="/ppt/notesSlides/notesSlide8.xml" Id="R0482c1ed551d43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79616aaf04b67" /><Relationship Type="http://schemas.openxmlformats.org/officeDocument/2006/relationships/notesSlide" Target="/ppt/notesSlides/notesSlide9.xml" Id="R431108e7cddd45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73ea3c34d4e6a" /><Relationship Type="http://schemas.openxmlformats.org/officeDocument/2006/relationships/notesSlide" Target="/ppt/notesSlides/notesSlide10.xml" Id="Rd8921fc01fe94fa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2f2e9e1434528" /><Relationship Type="http://schemas.openxmlformats.org/officeDocument/2006/relationships/notesSlide" Target="/ppt/notesSlides/notesSlide11.xml" Id="R442decc9d52641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3a41f4b864d31" /><Relationship Type="http://schemas.openxmlformats.org/officeDocument/2006/relationships/notesSlide" Target="/ppt/notesSlides/notesSlide12.xml" Id="R2279eb258fef4f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40D6AD-91EC-413B-83D0-7C8087BD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DEEP LEARNING | WEEK 9 | TWO-HOUR LECTURE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B6041-E9CE-47E0-9520-5D7F7976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619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Attention and Transformers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8A395-42E3-48B1-84F8-E65AB4C7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54768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Attention retrieves context by comparing queries with keys, allowing Transformer blocks to process tokens in parallel.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79E38E-E1E4-4A49-B1C3-FF184426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52450"/>
            <a:ext cx="5305425" cy="5219700"/>
          </a:xfrm>
          <a:prstGeom xmlns:a="http://schemas.openxmlformats.org/drawingml/2006/main" prst="roundRect">
            <a:avLst>
              <a:gd name="adj" fmla="val 219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A11A8-9DF8-48AE-9BF8-379C96DD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5621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28A00-7145-475A-80D1-E8D89E12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390650"/>
            <a:ext cx="1833563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Tokens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FD47EB-F787-479F-8924-BED6CA8D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5621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C2A5B-9D84-49D6-8304-C7C19070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488" y="1390650"/>
            <a:ext cx="1833563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Q / K / 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93776C-EA0B-4D97-A7EA-2622CFEE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574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0FC97B-14A9-4B33-A137-57343925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286000"/>
            <a:ext cx="1833563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Scores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61A59D-A2B9-4A96-80FE-A56A3AE9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24ED9F-F6B0-4AC1-BBE9-3856CC48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488" y="2286000"/>
            <a:ext cx="1833563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Mask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270308-7B17-4F72-803C-AC9D81EA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352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3B21CA-D6FA-4AEA-8CBA-0CA407E0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181350"/>
            <a:ext cx="1833563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Softmax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5A24B-0E2D-4378-8AD6-6C3F984E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352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3C012A-7AB4-4FF9-BFD0-0AB41D44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488" y="3181350"/>
            <a:ext cx="1833563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Weighted values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4F8046-C17F-41F6-BE4B-25C6BCE5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481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8EAC04-FF0C-4912-94C1-9EEFE6EF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076700"/>
            <a:ext cx="1833563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C0A657-5073-4E7C-9F35-5E411A9C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314950"/>
            <a:ext cx="4733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Original diagram based on the cited books.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56B94E-0B78-486D-B79F-546836C0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12.1-12.4 | B3 Ch. 11.1-11.7 | B4 Ch. 12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AF1476-A5E5-4506-9195-B4D551B0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ADD011-6E57-4EC9-B1F5-D26C049F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9 | Attention and Transformers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86BE91-B89E-4C2A-B102-DFB52A07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1/12</a:t>
            </a:r>
          </a:p>
        </p:txBody>
      </p:sp>
    </p:spTree>
    <p:extLst>
      <p:ext uri="{BB962C8B-B14F-4D97-AF65-F5344CB8AC3E}">
        <p14:creationId xmlns:p14="http://schemas.microsoft.com/office/powerpoint/2010/main" val="1972417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656721-A48A-447E-AE3F-A454D21F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LEARNING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D3C39D-79BF-4173-ABD0-4081498D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this lecture enables you to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564C5-3469-4526-A166-4B5AEB03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D00BB-5FFB-44C3-BA4D-28E8C113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Compute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038E9-01D2-4289-BD18-41DF86EC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716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Compute scaled dot-product attention from queries, keys, and values.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0A305-38AD-4F3C-A856-6591A36C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7F9FB4-1FA1-4C34-ACC2-0AA0D1CB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9EB5FF-5D40-4D97-8E68-9863D0BF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CEB76-EABF-499F-993C-F0C0C042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Explain masks, multi-head attention, and positional encoding.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72C3E-F54E-46C9-9303-A7556274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14B791-F136-41DC-A73C-4D39FEE4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3CA170-A058-4E2D-9469-48650E38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Trace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F880B8-42D3-493D-96F8-C99FB784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Trace information through a complete Transformer block.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6B79E4-163C-4B33-B729-7782CCA4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676668-1161-4A94-BA1F-FB90E1CB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09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Learning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EEC0BA-BFD3-4F5D-B8E3-34592AF3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D7C3E1-C87A-4070-832A-64A74AA5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240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Attention is content-addressed retrieval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BB0404-6034-40DF-A77C-504CC4C0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336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158443-E9B7-4F19-A07A-402160A1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336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Scaling keeps dot-product scores in a trainable range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510CE3-374E-4483-A388-9EF5F4FF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C9C14E-9ABC-43F1-8076-B90C6295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Three small tokens reveal the full attention calculation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EC026D-EE6E-4017-835B-5C40A28E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528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41DE5A-8156-4009-9F42-166D6701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528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 Transformer block protects and refines token information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36A3B2-434B-426E-8090-60296784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624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2F15FB-19CA-451F-AC9E-97D4D05C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624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Masks define what information a token is allowed to use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E0E066-6A18-4FB3-B7DC-D9AD5A7D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72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FB4425-CC26-4377-BAE9-F6CA27A2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720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Draw the legal attention pattern for each task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CDAD4F-C620-4C24-BD9A-4A5D0A76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12.1-12.4 | B3 Ch. 11.1-11.7 | B4 Ch. 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1A0063-796A-4B18-94F9-47F67BA8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2F0BA0-B43C-4FAC-A4D1-8B659982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9 | Attention and Transformers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3AA307-6C83-4B46-8E05-8C8B5B72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2/12</a:t>
            </a:r>
          </a:p>
        </p:txBody>
      </p:sp>
    </p:spTree>
    <p:extLst>
      <p:ext uri="{BB962C8B-B14F-4D97-AF65-F5344CB8AC3E}">
        <p14:creationId xmlns:p14="http://schemas.microsoft.com/office/powerpoint/2010/main" val="3856182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F73F0C-9197-49BB-9DC8-C33A7474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MENTAL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A8F261-7C9E-4571-801B-60F246CE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Attention is content-addressed retrieval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796E8-CEB1-4629-9826-AEF56C35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6E26C-C9B6-4BA8-90B6-820AB179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436" y="26670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1D9014-BA5F-44BA-AC74-CC58EF5C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371" y="26670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0EDEEC-285A-42AC-BF97-4BEA1B0E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3307" y="26670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C2D0D-6680-4B30-A117-7A71EE56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7243" y="26670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2A99F-25CE-414C-8A84-594A88E0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1179" y="26670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72860E-9296-427E-B5CC-89330312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5114" y="26670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84969D-B108-471B-B194-A00D74E7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1382486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Tokens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9639F-BCAA-4D9F-AB6D-B59682AB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886" y="2324100"/>
            <a:ext cx="1382486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Q / K / 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7DC3DA-B919-4BFB-9E2E-FFDE651D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821" y="2324100"/>
            <a:ext cx="1382486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Scores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1243DA-B9F2-4EAE-9684-7BDBA929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757" y="2324100"/>
            <a:ext cx="1382486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Mask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42EE6D-8614-4218-B41C-4C58C100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693" y="2324100"/>
            <a:ext cx="1382486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Softmax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204CA7-C58B-4B4C-B797-3F6D8D74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2629" y="2324100"/>
            <a:ext cx="1382486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Weighted values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95E401-F57A-4A21-A690-865B9031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6564" y="2324100"/>
            <a:ext cx="1382486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19916E-DC6E-4023-B5C3-C4F9FF47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24300"/>
            <a:ext cx="1019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A query selects a mixture of value vectors according to its similarity with key vectors.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8ACD4F-C0F1-4868-A312-D96EEA0B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245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Use this diagram as the organizing map for the rest of the lecture.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01FCAF-A087-48C4-9FB2-1A7E6275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12.1-12.4 | B3 Ch. 11.1-11.7 | B4 Ch. 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DEE843-335E-40D3-BF7E-FEEDC3EE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AC2A72-17FF-4A80-A76B-BA28035E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9 | Attention and Transformers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D99AC0-96F7-46C9-A336-DC7CC302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3/12</a:t>
            </a:r>
          </a:p>
        </p:txBody>
      </p:sp>
    </p:spTree>
    <p:extLst>
      <p:ext uri="{BB962C8B-B14F-4D97-AF65-F5344CB8AC3E}">
        <p14:creationId xmlns:p14="http://schemas.microsoft.com/office/powerpoint/2010/main" val="1476029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8509B4-AFFF-420C-A24B-D851F429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CORE CONCEPT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D0AC9-09F9-4D80-9A0C-AA505B48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Scaling keeps dot-product scores in a trainable range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BFDA9-B4D6-46E4-A1C6-868CFB99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Scores are QK^T divided by sqrt(d_k).</a:t>
            </a:r>
          </a:p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Masks remove padding or forbidden future positions before softmax.</a:t>
            </a:r>
          </a:p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The weighted value sum produces a context-dependent representation.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65F97-F812-4194-8AE9-6FAFDAB6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09750"/>
            <a:ext cx="5781675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054C2-2B74-4047-84A7-BF618899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479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685AB-7CEE-4F0B-9E68-6C7AD657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76475"/>
            <a:ext cx="2024063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Tokens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C4557-BAF0-4711-A856-57FE9988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4479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E4E09-773F-4307-ADB9-2D8C66E0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363" y="2276475"/>
            <a:ext cx="2024063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Q / K / 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FBC947-6723-4E69-B555-84A0D7F0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57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C9A06-CD9D-4D0F-A00B-E82547F3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86075"/>
            <a:ext cx="2024063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Scores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2D8EEF-A51C-4567-BA0E-E20EE1B3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3057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B7C3BE-AE53-44B8-84D1-6A4C5192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363" y="2886075"/>
            <a:ext cx="2024063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Mask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7F575B-A38E-4F5C-8401-58ADDC78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671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471197-A46D-4168-BD1A-4F580B14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95675"/>
            <a:ext cx="2024063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Softmax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06E425-AA6F-4246-B9E0-D267386C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36671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03F8B7-C0D7-44EE-9CD4-39F1BAE5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363" y="3495675"/>
            <a:ext cx="2024063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Weighted values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BDBF17-BB4F-4556-BA72-15F85699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767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97B614-B671-4060-830B-32B2117D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05275"/>
            <a:ext cx="2024063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ACDF2D-1918-4E2B-9B77-7D07467F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14875"/>
            <a:ext cx="5114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Attention retrieves context by comparing queries with keys, allowing Transformer blocks to process tokens in parallel.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CA23B5-46B3-47F7-BF87-995966EC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12.1-12.4 | B3 Ch. 11.1-11.7 | B4 Ch. 12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FBA503-EE32-418F-9494-2DF29E71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62C580-3E19-4C9E-BBB1-CE7F2E87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9 | Attention and Transformers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31F222-0D71-49EE-8BE7-8FA0CF6C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4/12</a:t>
            </a:r>
          </a:p>
        </p:txBody>
      </p:sp>
    </p:spTree>
    <p:extLst>
      <p:ext uri="{BB962C8B-B14F-4D97-AF65-F5344CB8AC3E}">
        <p14:creationId xmlns:p14="http://schemas.microsoft.com/office/powerpoint/2010/main" val="19996950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A7B131-9DE2-494D-9675-97EB4D6C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1A244-6B0C-458C-A2ED-0AF3246C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Three small tokens reveal the full attention calculation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F852B0-7476-44A4-A155-CAD2E6B9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B2780-ECD6-49E6-858C-941CAAEA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Scores are [2, 1, 0]; values are [1,0], [0,2], and [3,1]. What context is retrieved?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8CCAD-64C2-427A-86CA-059B18AB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73199-7CCB-41F3-838E-4CA466FB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Softmax weights are about [0.665, 0.245, 0.090].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675FB2-02B3-472C-BB12-F916A177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114EFF-6DAD-4AD5-A3AC-9273CA0C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Weight the three value vectors.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BCB914-DE81-4C35-9092-F7E3CF51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1502F5-EC48-48F0-82A2-9CCC5D3E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Sum them: context is about [0.935, 0.579].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E402FB-EEEC-4B3D-A912-2B1D1736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24375"/>
            <a:ext cx="8763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A88AF9-8A5A-4975-B28A-EC659A89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625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CCFF54-B0AA-461A-A742-27EAA7D6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67250"/>
            <a:ext cx="695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contextualized output is approximately [0.935, 0.579]; attention weights are not automatically a causal explanation.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EC051A-C892-43AB-841E-AE8D19BD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12.1-12.4 | B3 Ch. 11.1-11.7 | B4 Ch. 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55DD5F-4591-456B-8049-DF01825F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D5E052-758A-4F6C-BC78-0B894FBC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9 | Attention and Transformers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7F1FA7-1EBF-491B-951D-23302B59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3746162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75BDE5-8986-4032-AE8E-3F4EB84D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DESIGN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878AE-CADA-4020-960E-974BA976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 Transformer block protects and refines token information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1C0A38-DBAE-49AD-9FE2-670FF7C1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11277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Multiple heads learn different projections and relationships.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Residual paths and layer normalization stabilize deep stacks.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A position-wise feed-forward network transforms each token after context mixing.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E5884-E837-4801-8111-0F0E646B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6725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56233-6B8B-45C2-ABC9-1748C762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CF4D2-72A3-4A6A-82D3-A33EC5FD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681ADD-7BF3-4FFA-B8D0-94DAEA99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Attend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85339-48BC-478A-99DD-698035EC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E60EAF-5DC8-44D8-B486-319A448B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D52A1-099D-4F60-A68C-22A9DAB4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Add and normalize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46EC16-97B0-48AC-89F6-3F1C15B2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1FA15F-292D-44A5-B277-FDAC4232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85F051-7075-4606-9491-00249863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Transform each token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6B7108-FCFE-4D1D-97BA-24AE67DC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150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 useful pattern makes the next experiment explicit.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2BE9A6-D725-4CF3-8AD2-BA22385C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12.1-12.4 | B3 Ch. 11.1-11.7 | B4 Ch. 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342D36-8075-4F0E-80A7-9A95F085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D8FC2D-E377-4119-A70A-D2565FAC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9 | Attention and Transformers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FED298-8365-4CF3-ACA7-EC8A6522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6/12</a:t>
            </a:r>
          </a:p>
        </p:txBody>
      </p:sp>
    </p:spTree>
    <p:extLst>
      <p:ext uri="{BB962C8B-B14F-4D97-AF65-F5344CB8AC3E}">
        <p14:creationId xmlns:p14="http://schemas.microsoft.com/office/powerpoint/2010/main" val="11638841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032920-5116-477C-9A96-02E13215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DECISION 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F15951-333C-4B56-8116-79A6643A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Masks define what information a token is allowed to 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13B8E-C80F-4B3C-A291-08FF22C9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The same attention mechanism supports encoding and generation when its connectivity rules change.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15257-5F61-4878-AA3B-385078ED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55435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E35F9-C88F-4E88-934E-FAFD6363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Bidirectional encoder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D6758-033B-4DB7-85FF-D2BE546B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4933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Tokens see both left and right context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Useful for representation and classification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Padding mask blocks empty positions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AA464-D7D8-4584-A210-DB8D2374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38450"/>
            <a:ext cx="55435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1BC706-DC32-435A-8B55-0C95B0FD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2420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Causal decoder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0E4529-DF33-4396-8F73-D161B44D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62375"/>
            <a:ext cx="4933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Tokens see only earlier positions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Supports next-token generation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Triangular mask prevents future leakage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5FADB4-B596-4F00-9E06-4F62D272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12.1-12.4 | B3 Ch. 11.1-11.7 | B4 Ch. 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E0CEA-B96A-4EDE-9A60-08B7F2DE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F18DC2-E10C-402B-AC83-0D591F00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9 | Attention and Transformers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83B0B2-84FC-40BC-82CD-B775463A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7/12</a:t>
            </a:r>
          </a:p>
        </p:txBody>
      </p:sp>
    </p:spTree>
    <p:extLst>
      <p:ext uri="{BB962C8B-B14F-4D97-AF65-F5344CB8AC3E}">
        <p14:creationId xmlns:p14="http://schemas.microsoft.com/office/powerpoint/2010/main" val="13979496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B4F6CC-8F79-4779-8F4A-2136268B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IMPLEMENTATION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36D38-C4D6-4378-9CDD-8D6B5026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Shape annotations make multi-head attention understandable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A551D-8E4A-48E3-B836-D794A6AD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65722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18212B"/>
          </a:solidFill>
          <a:ln xmlns:a="http://schemas.openxmlformats.org/drawingml/2006/main" w="9525">
            <a:solidFill>
              <a:srgbClr val="1821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068004-3F77-4B25-9818-48360D27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6000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# q,k,v: [B, H, T, D]</a:t>
            </a:r>
          </a:p>
          <a:p xmlns:a="http://schemas.openxmlformats.org/drawingml/2006/main">
            <a:pPr algn="l">
              <a:defRPr sz="142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scores = q @ k.transpose(-2, -1) / sqrt(dk)</a:t>
            </a:r>
          </a:p>
          <a:p xmlns:a="http://schemas.openxmlformats.org/drawingml/2006/main">
            <a:pPr algn="l">
              <a:defRPr sz="142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# mask: [B, 1, T, T]</a:t>
            </a:r>
          </a:p>
          <a:p xmlns:a="http://schemas.openxmlformats.org/drawingml/2006/main">
            <a:pPr algn="l">
              <a:defRPr sz="142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weights = scores.masked_fill(mask == 0, -1e9).softmax(-1)</a:t>
            </a:r>
          </a:p>
          <a:p xmlns:a="http://schemas.openxmlformats.org/drawingml/2006/main">
            <a:pPr algn="l">
              <a:defRPr sz="142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context = weights @ v  # [B, H, T, D]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332EF4-AA08-4D4D-933C-DFBEDEE8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050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to watch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A29E1-CBC0-45DE-9DA9-6D4C44C2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8F77B-B444-4677-B43D-A2434C6C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479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Check mask broadcasting.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6C065B-1F83-4E85-AADA-A247CA90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7AC28A-3602-461C-B131-303C9DD6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004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Track head and sequence axes.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8B370-CED2-4E6B-8E50-C5445C7B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72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4A5FB2-38BC-4044-847E-5D1F5D0F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5529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Do not over-interpret raw weights.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A1D1D2-4289-4E09-954C-8912D7F4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12.1-12.4 | B3 Ch. 11.1-11.7 | B4 Ch. 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57F9EA-54DE-4ADC-B6EE-F166C8DE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BB7259-7A97-4720-A26D-39AC8A43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9 | Attention and Transformers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F67D62-90C5-48F9-B3BD-CD256579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8/12</a:t>
            </a:r>
          </a:p>
        </p:txBody>
      </p:sp>
    </p:spTree>
    <p:extLst>
      <p:ext uri="{BB962C8B-B14F-4D97-AF65-F5344CB8AC3E}">
        <p14:creationId xmlns:p14="http://schemas.microsoft.com/office/powerpoint/2010/main" val="14454943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41CCE3-EC83-4C2E-855D-88B1E9B8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FAILURE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1F215-0420-42C1-BA01-D0E30E04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Transformer errors often come from connectivity and scale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3B252-72CD-480B-B105-43525283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5B50D-74E2-4C5C-9E49-0B50E73D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C469E-DFE2-44E5-BF51-EF755178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Future leakage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551E2-9C00-4402-9D2B-6CC58D08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 missing causal mask makes generation training invalid.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409B6-05F9-436E-93DC-AEE08B5F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97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E4B5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91E7B-7ECA-4FD3-97CD-D9E330EA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AD62C-82E6-4632-AC62-6EB9EFD3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717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Padding attention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1BE39E-3769-4D96-8940-15D29337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718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Empty tokens influence representations when padding is unmasked.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672CEF-3EF1-4983-A00B-1416E862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97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F06C14-E6F5-431D-A8E6-883FE8AA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C7F15B-1B75-4A5D-A342-F4A08C48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717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Quadratic cost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9A21F8-24DC-4598-8E2A-E9041249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718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Attention memory grows with sequence length squared.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319134-94E7-48E3-98D3-F232D23B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667375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Diagnose with evidence before changing the architecture.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5E472E-6146-4859-859F-AF2C8906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12.1-12.4 | B3 Ch. 11.1-11.7 | B4 Ch. 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3990A5-CB96-4521-BC92-3FE4ED02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2D5A93-7C3F-4BF6-9A0D-70DA6909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9 | Attention and Transformers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DE4475-84C4-4689-959F-0690049D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9/12</a:t>
            </a:r>
          </a:p>
        </p:txBody>
      </p:sp>
    </p:spTree>
    <p:extLst>
      <p:ext uri="{BB962C8B-B14F-4D97-AF65-F5344CB8AC3E}">
        <p14:creationId xmlns:p14="http://schemas.microsoft.com/office/powerpoint/2010/main" val="1736745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45CE06-D193-41ED-9E5B-127C8C23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ACTIVE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65949-B736-4A6E-BF2C-A677EED2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Draw the legal attention pattern for each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589DE-6706-43AC-81FA-6CD71F26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7ACA1-8A6A-4804-BA9D-88B20343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Construct masks for sentiment classification, next-token generation, and encoder-decoder translation. Explain which tokens each output may inspect.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298C59-F6F2-4283-8B11-4F521B87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623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94114-C08A-432B-99C4-D225F7E1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Draw the matrix.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EAC431-6869-4170-A5F3-B52C310F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7623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069B7C-A545-42C3-962D-E16EFD16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1910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Mark permitted connections.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6F40B7-D9C5-426B-9D5C-9E2D9B22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623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B2CBD-9904-41EE-A1F9-A73B18D7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910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Name the resulting Transformer form.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4F717F-7686-4EAE-A43C-CD430B5F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006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Share-out criterion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96D492-2A26-4332-801F-71CB0779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3400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The mask is part of the model's information policy.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744662-6192-4B66-A3B5-DB7443E9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12.1-12.4 | B3 Ch. 11.1-11.7 | B4 Ch. 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29D4CE-1A6B-4488-864B-B34053DF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9B0C54-980B-430D-9D05-5DCA22D7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9 | Attention and Transformers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657FD2-5DF0-4AD5-954E-5727A3B1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10/12</a:t>
            </a:r>
          </a:p>
        </p:txBody>
      </p:sp>
    </p:spTree>
    <p:extLst>
      <p:ext uri="{BB962C8B-B14F-4D97-AF65-F5344CB8AC3E}">
        <p14:creationId xmlns:p14="http://schemas.microsoft.com/office/powerpoint/2010/main" val="13209774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8FEF13-D63B-4923-8997-C83C00BA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C1D7E-47B5-4AB2-97C8-CF9E4CAE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Three ideas to carry forward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EAB27E-5893-4225-ACEF-00F19BBD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1937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4756D-1D6B-4BEF-9ACC-8A902C87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52EDD-3A9C-44E4-BF97-7FA1A7CF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D36D5-EB17-47A9-9372-FE9FA437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Q, K, and V turn similarity into context retrieval.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430D1-BF22-46D9-8296-6783487A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5CF8B-A180-48FA-A5ED-9AB57B43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2B0E7-F808-464E-AD77-D001E33F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Scaling and masks are essential, not optional details.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354831-C52F-4572-80A7-5471DC42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56B0FB-F0BE-4799-93CC-0CEE2AFA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E780BE-1FB1-4F0F-8D1D-99B53669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Residual, normalization, and feed-forward paths complete the block.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414499-C8E9-4E42-B748-BF567A41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Attention retrieves context by comparing queries with keys, allowing Transformer blocks to process tokens in parallel.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1802FE-36E7-49C0-85D2-917AAC33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12.1-12.4 | B3 Ch. 11.1-11.7 | B4 Ch. 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257D46-8B38-4490-9C97-03E759B3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F2F514-05FE-4E9A-AF6C-0845251D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9 | Attention and Transformers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72F609-F362-4283-BE2D-F43A109A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11/12</a:t>
            </a:r>
          </a:p>
        </p:txBody>
      </p:sp>
    </p:spTree>
    <p:extLst>
      <p:ext uri="{BB962C8B-B14F-4D97-AF65-F5344CB8AC3E}">
        <p14:creationId xmlns:p14="http://schemas.microsoft.com/office/powerpoint/2010/main" val="3538118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3CB5DB-13D4-48AB-980D-20D1212D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31D99-F2F4-445E-9292-117FE119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Attention retrieves context by comparing queries with keys, allowing Transformer blocks to process tokens in parallel.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2A817C-69B9-40FB-BA53-3F4D5CB9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Answer before you leave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52A16-2C7D-4ACA-9D58-76EFA33E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D58B3-AF34-4829-822E-46B995F8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Why divide scores by sqrt(d_k)?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7DCB2C-5080-46D6-9EBC-7A151BB7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52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E4739-A694-4B7B-90AA-329B3D50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would future-token leakage look like in training metrics?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CE66C5-A66A-4F69-AD2C-7200E915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051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Book references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B94430-F9AD-49F7-9714-7BF4D223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766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C2E62-7415-48CB-A1A9-9B97A112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290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Prince, Understanding Deep Learning (MIT Press, 2023)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F25814-8425-4CE3-B12E-91420505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290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1C9F81-0130-4D57-9EE0-EFB53EE7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Zhang et al., Dive into Deep Learning (Cambridge University Press, 2024)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920BDA-C733-4337-B206-5B574BDF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815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581E2F-1DC1-4687-A178-C2DE08D2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339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Bishop &amp; Bishop, Deep Learning: Foundations and Concepts (Springer, 2024)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182B93-C36F-4081-A860-699933E9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8A9629-3FD9-4469-A174-6F8F72B6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9 | Attention and Transformers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A1972D-630D-4504-97DB-FA6BCAA8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12/12</a:t>
            </a:r>
          </a:p>
        </p:txBody>
      </p:sp>
    </p:spTree>
    <p:extLst>
      <p:ext uri="{BB962C8B-B14F-4D97-AF65-F5344CB8AC3E}">
        <p14:creationId xmlns:p14="http://schemas.microsoft.com/office/powerpoint/2010/main" val="13544471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2026-07-12T22:11:49.9500000Z</dcterms:created>
  <dcterms:modified xsi:type="dcterms:W3CDTF">2026-07-12T22:11:49.9500000Z</dcterms:modified>
</coreProperties>
</file>